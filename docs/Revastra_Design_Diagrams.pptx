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-1371600"/>
            <a:ext cx="5029200" cy="502920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35440" y="3200400"/>
            <a:ext cx="3200400" cy="3200400"/>
          </a:xfrm>
          <a:prstGeom prst="ellipse">
            <a:avLst/>
          </a:prstGeom>
          <a:solidFill>
            <a:srgbClr val="2EA043">
              <a:alpha val="15000"/>
            </a:srgbClr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0" b="1" spc="800" kern="0" dirty="0">
                <a:solidFill>
                  <a:srgbClr val="F0F6FC"/>
                </a:solidFill>
              </a:rPr>
              <a:t>REVASTRA</a:t>
            </a:r>
            <a:endParaRPr lang="en-US" sz="7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5029200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43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spc="200" kern="0" dirty="0">
                <a:solidFill>
                  <a:srgbClr val="34D399"/>
                </a:solidFill>
              </a:rPr>
              <a:t>Smart Sustainable Clothing Ecosystem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3337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B949E"/>
                </a:solidFill>
              </a:rPr>
              <a:t>Technical Design Diagrams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931920"/>
            <a:ext cx="4846320" cy="402336"/>
          </a:xfrm>
          <a:prstGeom prst="rect">
            <a:avLst>
              <a:gd name="adj" fmla="val 1363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931920"/>
            <a:ext cx="73152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931920"/>
            <a:ext cx="457200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0F6FC"/>
                </a:solidFill>
              </a:rPr>
              <a:t>01  System Flow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4462272"/>
            <a:ext cx="4846320" cy="402336"/>
          </a:xfrm>
          <a:prstGeom prst="rect">
            <a:avLst>
              <a:gd name="adj" fmla="val 1363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4462272"/>
            <a:ext cx="73152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462272"/>
            <a:ext cx="457200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0F6FC"/>
                </a:solidFill>
              </a:rPr>
              <a:t>02  System Architecture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4992624"/>
            <a:ext cx="4846320" cy="402336"/>
          </a:xfrm>
          <a:prstGeom prst="rect">
            <a:avLst>
              <a:gd name="adj" fmla="val 1363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4992624"/>
            <a:ext cx="73152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992624"/>
            <a:ext cx="457200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0F6FC"/>
                </a:solidFill>
              </a:rPr>
              <a:t>03  Class Diagram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852160" y="3931920"/>
            <a:ext cx="4846320" cy="402336"/>
          </a:xfrm>
          <a:prstGeom prst="rect">
            <a:avLst>
              <a:gd name="adj" fmla="val 1363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52160" y="3931920"/>
            <a:ext cx="73152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0" y="3931920"/>
            <a:ext cx="457200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0F6FC"/>
                </a:solidFill>
              </a:rPr>
              <a:t>04  Swimlane Diagram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852160" y="4462272"/>
            <a:ext cx="4846320" cy="402336"/>
          </a:xfrm>
          <a:prstGeom prst="rect">
            <a:avLst>
              <a:gd name="adj" fmla="val 1363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52160" y="4462272"/>
            <a:ext cx="73152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5040" y="4462272"/>
            <a:ext cx="457200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0F6FC"/>
                </a:solidFill>
              </a:rPr>
              <a:t>05  ER / Database Design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852160" y="4992624"/>
            <a:ext cx="4846320" cy="402336"/>
          </a:xfrm>
          <a:prstGeom prst="rect">
            <a:avLst>
              <a:gd name="adj" fmla="val 1363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52160" y="4992624"/>
            <a:ext cx="73152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35040" y="4992624"/>
            <a:ext cx="457200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0F6FC"/>
                </a:solidFill>
              </a:rPr>
              <a:t>06  Combined Architecture + Data Flow + DB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74320" y="6492240"/>
            <a:ext cx="1161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GlobalLogic Java Track TE 2.0  |  Sprint: April 2026  |  Evaluation: 10 April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73152"/>
            <a:ext cx="438912" cy="438912"/>
          </a:xfrm>
          <a:prstGeom prst="ellipse">
            <a:avLst/>
          </a:prstGeom>
          <a:solidFill>
            <a:srgbClr val="0D1117"/>
          </a:solidFill>
          <a:ln w="254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7315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731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0F6FC"/>
                </a:solidFill>
              </a:rPr>
              <a:t>System Flow Diagram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320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1FAE5"/>
                </a:solidFill>
              </a:rPr>
              <a:t>End-to-end user journey through the Revastra platform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515600" y="10972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0D1117"/>
                </a:solidFill>
              </a:rPr>
              <a:t>REVASTRA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8600" y="2103120"/>
            <a:ext cx="1005840" cy="1005840"/>
          </a:xfrm>
          <a:prstGeom prst="ellipse">
            <a:avLst/>
          </a:prstGeom>
          <a:solidFill>
            <a:srgbClr val="0D9488"/>
          </a:solidFill>
          <a:ln w="254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21031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6FC"/>
                </a:solidFill>
              </a:rPr>
              <a:t>USER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" y="3154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Mobile / Web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261872" y="2606040"/>
            <a:ext cx="594360" cy="0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46504" y="2542032"/>
            <a:ext cx="109728" cy="64008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46504" y="2670048"/>
            <a:ext cx="109728" cy="-64008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74520" y="2194560"/>
            <a:ext cx="1554480" cy="822960"/>
          </a:xfrm>
          <a:prstGeom prst="rect">
            <a:avLst/>
          </a:prstGeom>
          <a:solidFill>
            <a:srgbClr val="1D6FE8"/>
          </a:solidFill>
          <a:ln w="1524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874520" y="2194560"/>
            <a:ext cx="15544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6FC"/>
                </a:solidFill>
              </a:rPr>
              <a:t>API Gateway</a:t>
            </a:r>
            <a:endParaRPr lang="en-US" sz="9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D1FAE5"/>
                </a:solidFill>
              </a:rPr>
              <a:t>Auth Filter</a:t>
            </a:r>
            <a:endParaRPr lang="en-US" sz="9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D1FAE5"/>
                </a:solidFill>
              </a:rPr>
              <a:t>Rate Limiting</a:t>
            </a:r>
            <a:endParaRPr lang="en-US" sz="9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D1FAE5"/>
                </a:solidFill>
              </a:rPr>
              <a:t>Routing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447288" y="2606040"/>
            <a:ext cx="457200" cy="0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94760" y="2542032"/>
            <a:ext cx="109728" cy="64008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94760" y="2670048"/>
            <a:ext cx="109728" cy="-64008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922776" y="2194560"/>
            <a:ext cx="1463040" cy="822960"/>
          </a:xfrm>
          <a:prstGeom prst="rect">
            <a:avLst/>
          </a:prstGeom>
          <a:solidFill>
            <a:srgbClr val="161B22"/>
          </a:solidFill>
          <a:ln w="1524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922776" y="2194560"/>
            <a:ext cx="146304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6FC"/>
                </a:solidFill>
              </a:rPr>
              <a:t>Service Registry</a:t>
            </a:r>
            <a:endParaRPr lang="en-US" sz="9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D1FAE5"/>
                </a:solidFill>
              </a:rPr>
              <a:t>Eureka</a:t>
            </a:r>
            <a:endParaRPr lang="en-US" sz="9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D1FAE5"/>
                </a:solidFill>
              </a:rPr>
              <a:t>Service Discovery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54296" y="2194560"/>
            <a:ext cx="0" cy="-457200"/>
          </a:xfrm>
          <a:prstGeom prst="line">
            <a:avLst/>
          </a:prstGeom>
          <a:noFill/>
          <a:ln w="15240">
            <a:solidFill>
              <a:srgbClr val="F59E0B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4681728" y="16002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F59E0B"/>
                </a:solidFill>
              </a:rPr>
              <a:t>register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5404104" y="2606040"/>
            <a:ext cx="457200" cy="0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751576" y="2542032"/>
            <a:ext cx="109728" cy="64008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51576" y="2670048"/>
            <a:ext cx="109728" cy="-64008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879592" y="2194560"/>
            <a:ext cx="1417320" cy="822960"/>
          </a:xfrm>
          <a:prstGeom prst="rect">
            <a:avLst/>
          </a:prstGeom>
          <a:solidFill>
            <a:srgbClr val="7C3AED"/>
          </a:solidFill>
          <a:ln w="1524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879592" y="2194560"/>
            <a:ext cx="14173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6FC"/>
                </a:solidFill>
              </a:rPr>
              <a:t>JWT Auth</a:t>
            </a:r>
            <a:endParaRPr lang="en-US" sz="9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D1FAE5"/>
                </a:solidFill>
              </a:rPr>
              <a:t>Spring Security</a:t>
            </a:r>
            <a:endParaRPr lang="en-US" sz="9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D1FAE5"/>
                </a:solidFill>
              </a:rPr>
              <a:t>Token Refresh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651760" y="3026664"/>
            <a:ext cx="0" cy="594360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280160" y="3621024"/>
            <a:ext cx="8046720" cy="0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280160" y="3621024"/>
            <a:ext cx="0" cy="338328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216152" y="3849624"/>
            <a:ext cx="64008" cy="109728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344168" y="3849624"/>
            <a:ext cx="-64008" cy="109728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3977640"/>
            <a:ext cx="1645920" cy="685800"/>
          </a:xfrm>
          <a:prstGeom prst="rect">
            <a:avLst/>
          </a:prstGeom>
          <a:solidFill>
            <a:srgbClr val="0D9488"/>
          </a:solidFill>
          <a:ln w="1524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57200" y="3977640"/>
            <a:ext cx="164592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6FC"/>
                </a:solidFill>
              </a:rPr>
              <a:t>User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0F6FC"/>
                </a:solidFill>
              </a:rPr>
              <a:t>Service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280160" y="4663440"/>
            <a:ext cx="0" cy="27432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216152" y="4828032"/>
            <a:ext cx="64008" cy="109728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344168" y="4828032"/>
            <a:ext cx="-64008" cy="109728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77240" y="4956048"/>
            <a:ext cx="1005840" cy="201168"/>
          </a:xfrm>
          <a:prstGeom prst="ellipse">
            <a:avLst/>
          </a:prstGeom>
          <a:solidFill>
            <a:srgbClr val="30363D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77240" y="5047488"/>
            <a:ext cx="1005840" cy="438912"/>
          </a:xfrm>
          <a:prstGeom prst="rect">
            <a:avLst/>
          </a:prstGeom>
          <a:solidFill>
            <a:srgbClr val="30363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77240" y="5276088"/>
            <a:ext cx="1005840" cy="201168"/>
          </a:xfrm>
          <a:prstGeom prst="ellipse">
            <a:avLst/>
          </a:prstGeom>
          <a:solidFill>
            <a:srgbClr val="161B22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552297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</a:rPr>
              <a:t>PostgreSQL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3291840" y="3621024"/>
            <a:ext cx="0" cy="338328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227832" y="3849624"/>
            <a:ext cx="64008" cy="109728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355848" y="3849624"/>
            <a:ext cx="-64008" cy="109728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468880" y="3977640"/>
            <a:ext cx="1645920" cy="685800"/>
          </a:xfrm>
          <a:prstGeom prst="rect">
            <a:avLst/>
          </a:prstGeom>
          <a:solidFill>
            <a:srgbClr val="1D6FE8"/>
          </a:solidFill>
          <a:ln w="1524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2468880" y="3977640"/>
            <a:ext cx="164592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6FC"/>
                </a:solidFill>
              </a:rPr>
              <a:t>Laundry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0F6FC"/>
                </a:solidFill>
              </a:rPr>
              <a:t>Service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291840" y="4663440"/>
            <a:ext cx="0" cy="27432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227832" y="4828032"/>
            <a:ext cx="64008" cy="109728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355848" y="4828032"/>
            <a:ext cx="-64008" cy="109728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788920" y="4956048"/>
            <a:ext cx="1005840" cy="201168"/>
          </a:xfrm>
          <a:prstGeom prst="ellipse">
            <a:avLst/>
          </a:prstGeom>
          <a:solidFill>
            <a:srgbClr val="30363D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788920" y="5047488"/>
            <a:ext cx="1005840" cy="438912"/>
          </a:xfrm>
          <a:prstGeom prst="rect">
            <a:avLst/>
          </a:prstGeom>
          <a:solidFill>
            <a:srgbClr val="30363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788920" y="5276088"/>
            <a:ext cx="1005840" cy="201168"/>
          </a:xfrm>
          <a:prstGeom prst="ellipse">
            <a:avLst/>
          </a:prstGeom>
          <a:solidFill>
            <a:srgbClr val="161B22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560320" y="552297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</a:rPr>
              <a:t>PostgreSQL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5303520" y="3621024"/>
            <a:ext cx="0" cy="338328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239512" y="3849624"/>
            <a:ext cx="64008" cy="109728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367528" y="3849624"/>
            <a:ext cx="-64008" cy="109728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480560" y="3977640"/>
            <a:ext cx="1645920" cy="685800"/>
          </a:xfrm>
          <a:prstGeom prst="rect">
            <a:avLst/>
          </a:prstGeom>
          <a:solidFill>
            <a:srgbClr val="2EA043"/>
          </a:solidFill>
          <a:ln w="1524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4480560" y="3977640"/>
            <a:ext cx="164592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6FC"/>
                </a:solidFill>
              </a:rPr>
              <a:t>Recycling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0F6FC"/>
                </a:solidFill>
              </a:rPr>
              <a:t>Service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303520" y="4663440"/>
            <a:ext cx="0" cy="27432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239512" y="4828032"/>
            <a:ext cx="64008" cy="109728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367528" y="4828032"/>
            <a:ext cx="-64008" cy="109728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800600" y="4956048"/>
            <a:ext cx="1005840" cy="201168"/>
          </a:xfrm>
          <a:prstGeom prst="ellipse">
            <a:avLst/>
          </a:prstGeom>
          <a:solidFill>
            <a:srgbClr val="30363D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800600" y="5047488"/>
            <a:ext cx="1005840" cy="438912"/>
          </a:xfrm>
          <a:prstGeom prst="rect">
            <a:avLst/>
          </a:prstGeom>
          <a:solidFill>
            <a:srgbClr val="30363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800600" y="5276088"/>
            <a:ext cx="1005840" cy="201168"/>
          </a:xfrm>
          <a:prstGeom prst="ellipse">
            <a:avLst/>
          </a:prstGeom>
          <a:solidFill>
            <a:srgbClr val="161B22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572000" y="552297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</a:rPr>
              <a:t>PostgreSQL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7315200" y="3621024"/>
            <a:ext cx="0" cy="338328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251192" y="3849624"/>
            <a:ext cx="64008" cy="109728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379208" y="3849624"/>
            <a:ext cx="-64008" cy="109728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492240" y="3977640"/>
            <a:ext cx="1645920" cy="685800"/>
          </a:xfrm>
          <a:prstGeom prst="rect">
            <a:avLst/>
          </a:prstGeom>
          <a:solidFill>
            <a:srgbClr val="7C3AED"/>
          </a:solidFill>
          <a:ln w="1524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0" name="Text 68"/>
          <p:cNvSpPr/>
          <p:nvPr/>
        </p:nvSpPr>
        <p:spPr>
          <a:xfrm>
            <a:off x="6492240" y="3977640"/>
            <a:ext cx="164592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6FC"/>
                </a:solidFill>
              </a:rPr>
              <a:t>Upcycle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0F6FC"/>
                </a:solidFill>
              </a:rPr>
              <a:t>Service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7315200" y="4663440"/>
            <a:ext cx="0" cy="27432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251192" y="4828032"/>
            <a:ext cx="64008" cy="109728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379208" y="4828032"/>
            <a:ext cx="-64008" cy="109728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812280" y="4956048"/>
            <a:ext cx="1005840" cy="201168"/>
          </a:xfrm>
          <a:prstGeom prst="ellipse">
            <a:avLst/>
          </a:prstGeom>
          <a:solidFill>
            <a:srgbClr val="30363D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812280" y="5047488"/>
            <a:ext cx="1005840" cy="438912"/>
          </a:xfrm>
          <a:prstGeom prst="rect">
            <a:avLst/>
          </a:prstGeom>
          <a:solidFill>
            <a:srgbClr val="30363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812280" y="5276088"/>
            <a:ext cx="1005840" cy="201168"/>
          </a:xfrm>
          <a:prstGeom prst="ellipse">
            <a:avLst/>
          </a:prstGeom>
          <a:solidFill>
            <a:srgbClr val="161B22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583680" y="552297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</a:rPr>
              <a:t>PostgreSQL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9326880" y="3621024"/>
            <a:ext cx="0" cy="338328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9262872" y="3849624"/>
            <a:ext cx="64008" cy="109728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9390888" y="3849624"/>
            <a:ext cx="-64008" cy="109728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503920" y="3977640"/>
            <a:ext cx="1645920" cy="685800"/>
          </a:xfrm>
          <a:prstGeom prst="rect">
            <a:avLst/>
          </a:prstGeom>
          <a:solidFill>
            <a:srgbClr val="F59E0B"/>
          </a:solidFill>
          <a:ln w="1524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82" name="Text 80"/>
          <p:cNvSpPr/>
          <p:nvPr/>
        </p:nvSpPr>
        <p:spPr>
          <a:xfrm>
            <a:off x="8503920" y="3977640"/>
            <a:ext cx="164592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6FC"/>
                </a:solidFill>
              </a:rPr>
              <a:t>Payment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0F6FC"/>
                </a:solidFill>
              </a:rPr>
              <a:t>Service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9326880" y="4663440"/>
            <a:ext cx="0" cy="27432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262872" y="4828032"/>
            <a:ext cx="64008" cy="109728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9390888" y="4828032"/>
            <a:ext cx="-64008" cy="109728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8823960" y="4956048"/>
            <a:ext cx="1005840" cy="201168"/>
          </a:xfrm>
          <a:prstGeom prst="ellipse">
            <a:avLst/>
          </a:prstGeom>
          <a:solidFill>
            <a:srgbClr val="30363D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8823960" y="5047488"/>
            <a:ext cx="1005840" cy="438912"/>
          </a:xfrm>
          <a:prstGeom prst="rect">
            <a:avLst/>
          </a:prstGeom>
          <a:solidFill>
            <a:srgbClr val="30363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8823960" y="5276088"/>
            <a:ext cx="1005840" cy="201168"/>
          </a:xfrm>
          <a:prstGeom prst="ellipse">
            <a:avLst/>
          </a:prstGeom>
          <a:solidFill>
            <a:srgbClr val="161B22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8595360" y="552297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</a:rPr>
              <a:t>PostgreSQL</a:t>
            </a:r>
            <a:endParaRPr lang="en-US" sz="700" dirty="0"/>
          </a:p>
        </p:txBody>
      </p:sp>
      <p:sp>
        <p:nvSpPr>
          <p:cNvPr id="90" name="Shape 88"/>
          <p:cNvSpPr/>
          <p:nvPr/>
        </p:nvSpPr>
        <p:spPr>
          <a:xfrm>
            <a:off x="9601200" y="3383280"/>
            <a:ext cx="1554480" cy="685800"/>
          </a:xfrm>
          <a:prstGeom prst="rect">
            <a:avLst/>
          </a:prstGeom>
          <a:solidFill>
            <a:srgbClr val="161B22"/>
          </a:solidFill>
          <a:ln w="1524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91" name="Text 89"/>
          <p:cNvSpPr/>
          <p:nvPr/>
        </p:nvSpPr>
        <p:spPr>
          <a:xfrm>
            <a:off x="9601200" y="3383280"/>
            <a:ext cx="155448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6FC"/>
                </a:solidFill>
              </a:rPr>
              <a:t>Notification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0F6FC"/>
                </a:solidFill>
              </a:rPr>
              <a:t>Service</a:t>
            </a:r>
            <a:endParaRPr lang="en-US" sz="9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D1FAE5"/>
                </a:solidFill>
              </a:rPr>
              <a:t>Email / SMS</a:t>
            </a:r>
            <a:endParaRPr lang="en-US" sz="9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D1FAE5"/>
                </a:solidFill>
              </a:rPr>
              <a:t>(Good to Have)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7296912" y="2606040"/>
            <a:ext cx="169164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dash"/>
          </a:ln>
        </p:spPr>
      </p:sp>
      <p:sp>
        <p:nvSpPr>
          <p:cNvPr id="93" name="Shape 91"/>
          <p:cNvSpPr/>
          <p:nvPr/>
        </p:nvSpPr>
        <p:spPr>
          <a:xfrm>
            <a:off x="10378440" y="3383280"/>
            <a:ext cx="0" cy="-777240"/>
          </a:xfrm>
          <a:prstGeom prst="line">
            <a:avLst/>
          </a:prstGeom>
          <a:noFill/>
          <a:ln w="12700">
            <a:solidFill>
              <a:srgbClr val="F59E0B"/>
            </a:solidFill>
            <a:prstDash val="dash"/>
          </a:ln>
        </p:spPr>
      </p:sp>
      <p:sp>
        <p:nvSpPr>
          <p:cNvPr id="94" name="Shape 92"/>
          <p:cNvSpPr/>
          <p:nvPr/>
        </p:nvSpPr>
        <p:spPr>
          <a:xfrm>
            <a:off x="8229600" y="2194560"/>
            <a:ext cx="1554480" cy="822960"/>
          </a:xfrm>
          <a:prstGeom prst="rect">
            <a:avLst/>
          </a:prstGeom>
          <a:solidFill>
            <a:srgbClr val="EF4444"/>
          </a:solidFill>
          <a:ln w="1524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95" name="Text 93"/>
          <p:cNvSpPr/>
          <p:nvPr/>
        </p:nvSpPr>
        <p:spPr>
          <a:xfrm>
            <a:off x="8229600" y="2194560"/>
            <a:ext cx="15544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6FC"/>
                </a:solidFill>
              </a:rPr>
              <a:t>Order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0F6FC"/>
                </a:solidFill>
              </a:rPr>
              <a:t>Service</a:t>
            </a:r>
            <a:endParaRPr lang="en-US" sz="9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D1FAE5"/>
                </a:solidFill>
              </a:rPr>
              <a:t>Lifecycle</a:t>
            </a:r>
            <a:endParaRPr lang="en-US" sz="9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D1FAE5"/>
                </a:solidFill>
              </a:rPr>
              <a:t>Status Tracking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7315200" y="2606040"/>
            <a:ext cx="896112" cy="0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457200" y="6446520"/>
            <a:ext cx="365760" cy="10972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896112" y="64008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Request Flow</a:t>
            </a:r>
            <a:endParaRPr lang="en-US" sz="750" dirty="0"/>
          </a:p>
        </p:txBody>
      </p:sp>
      <p:sp>
        <p:nvSpPr>
          <p:cNvPr id="99" name="Shape 97"/>
          <p:cNvSpPr/>
          <p:nvPr/>
        </p:nvSpPr>
        <p:spPr>
          <a:xfrm>
            <a:off x="3383280" y="6446520"/>
            <a:ext cx="36576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3822192" y="64008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Async / Optional</a:t>
            </a:r>
            <a:endParaRPr lang="en-US" sz="750" dirty="0"/>
          </a:p>
        </p:txBody>
      </p:sp>
      <p:sp>
        <p:nvSpPr>
          <p:cNvPr id="101" name="Shape 99"/>
          <p:cNvSpPr/>
          <p:nvPr/>
        </p:nvSpPr>
        <p:spPr>
          <a:xfrm>
            <a:off x="6309360" y="6446520"/>
            <a:ext cx="365760" cy="109728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6748272" y="64008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DB Connection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73152"/>
            <a:ext cx="438912" cy="438912"/>
          </a:xfrm>
          <a:prstGeom prst="ellipse">
            <a:avLst/>
          </a:prstGeom>
          <a:solidFill>
            <a:srgbClr val="0D1117"/>
          </a:solidFill>
          <a:ln w="254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7315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731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0F6FC"/>
                </a:solidFill>
              </a:rPr>
              <a:t>System Architecture Diagram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320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1FAE5"/>
                </a:solidFill>
              </a:rPr>
              <a:t>Microservices architecture with Spring Cloud Gateway + Eureka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515600" y="10972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0D1117"/>
                </a:solidFill>
              </a:rPr>
              <a:t>REVASTRA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8600" y="777240"/>
            <a:ext cx="150876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77724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0F6FC"/>
                </a:solidFill>
              </a:rPr>
              <a:t>CLIENT LAYER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874520" y="850392"/>
            <a:ext cx="3243072" cy="539496"/>
          </a:xfrm>
          <a:prstGeom prst="rect">
            <a:avLst/>
          </a:prstGeom>
          <a:solidFill>
            <a:srgbClr val="161B22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74520" y="850392"/>
            <a:ext cx="54864" cy="5394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65960" y="850392"/>
            <a:ext cx="3133344" cy="53949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0F6FC"/>
                </a:solidFill>
              </a:rPr>
              <a:t>React SPA (JSX + Hooks)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282184" y="850392"/>
            <a:ext cx="3243072" cy="539496"/>
          </a:xfrm>
          <a:prstGeom prst="rect">
            <a:avLst/>
          </a:prstGeom>
          <a:solidFill>
            <a:srgbClr val="161B22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82184" y="850392"/>
            <a:ext cx="54864" cy="5394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73624" y="850392"/>
            <a:ext cx="3133344" cy="53949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0F6FC"/>
                </a:solidFill>
              </a:rPr>
              <a:t>Axios API Client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689848" y="850392"/>
            <a:ext cx="3243072" cy="539496"/>
          </a:xfrm>
          <a:prstGeom prst="rect">
            <a:avLst/>
          </a:prstGeom>
          <a:solidFill>
            <a:srgbClr val="161B22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9848" y="850392"/>
            <a:ext cx="54864" cy="5394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81288" y="850392"/>
            <a:ext cx="3133344" cy="53949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0F6FC"/>
                </a:solidFill>
              </a:rPr>
              <a:t>Mobile Browser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28600" y="1664208"/>
            <a:ext cx="1508760" cy="685800"/>
          </a:xfrm>
          <a:prstGeom prst="rect">
            <a:avLst/>
          </a:prstGeom>
          <a:solidFill>
            <a:srgbClr val="1D6FE8"/>
          </a:solidFill>
          <a:ln w="12700">
            <a:solidFill>
              <a:srgbClr val="1D6F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" y="1664208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0F6FC"/>
                </a:solidFill>
              </a:rPr>
              <a:t>GATEWAY LAYER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874520" y="1737360"/>
            <a:ext cx="3243072" cy="539496"/>
          </a:xfrm>
          <a:prstGeom prst="rect">
            <a:avLst/>
          </a:prstGeom>
          <a:solidFill>
            <a:srgbClr val="161B22"/>
          </a:solidFill>
          <a:ln w="12700">
            <a:solidFill>
              <a:srgbClr val="1D6F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74520" y="1737360"/>
            <a:ext cx="54864" cy="539496"/>
          </a:xfrm>
          <a:prstGeom prst="rect">
            <a:avLst/>
          </a:prstGeom>
          <a:solidFill>
            <a:srgbClr val="1D6FE8"/>
          </a:solidFill>
          <a:ln w="12700">
            <a:solidFill>
              <a:srgbClr val="1D6F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965960" y="1737360"/>
            <a:ext cx="3133344" cy="53949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0F6FC"/>
                </a:solidFill>
              </a:rPr>
              <a:t>Spring Cloud Gateway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282184" y="1737360"/>
            <a:ext cx="3243072" cy="539496"/>
          </a:xfrm>
          <a:prstGeom prst="rect">
            <a:avLst/>
          </a:prstGeom>
          <a:solidFill>
            <a:srgbClr val="161B22"/>
          </a:solidFill>
          <a:ln w="12700">
            <a:solidFill>
              <a:srgbClr val="1D6F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282184" y="1737360"/>
            <a:ext cx="54864" cy="539496"/>
          </a:xfrm>
          <a:prstGeom prst="rect">
            <a:avLst/>
          </a:prstGeom>
          <a:solidFill>
            <a:srgbClr val="1D6FE8"/>
          </a:solidFill>
          <a:ln w="12700">
            <a:solidFill>
              <a:srgbClr val="1D6F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73624" y="1737360"/>
            <a:ext cx="3133344" cy="53949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0F6FC"/>
                </a:solidFill>
              </a:rPr>
              <a:t>JWT Auth Filter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8689848" y="1737360"/>
            <a:ext cx="3243072" cy="539496"/>
          </a:xfrm>
          <a:prstGeom prst="rect">
            <a:avLst/>
          </a:prstGeom>
          <a:solidFill>
            <a:srgbClr val="161B22"/>
          </a:solidFill>
          <a:ln w="12700">
            <a:solidFill>
              <a:srgbClr val="1D6F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689848" y="1737360"/>
            <a:ext cx="54864" cy="539496"/>
          </a:xfrm>
          <a:prstGeom prst="rect">
            <a:avLst/>
          </a:prstGeom>
          <a:solidFill>
            <a:srgbClr val="1D6FE8"/>
          </a:solidFill>
          <a:ln w="12700">
            <a:solidFill>
              <a:srgbClr val="1D6F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781288" y="1737360"/>
            <a:ext cx="3133344" cy="53949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0F6FC"/>
                </a:solidFill>
              </a:rPr>
              <a:t>Rate Limiting / Routing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28600" y="2560320"/>
            <a:ext cx="1508760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8600" y="2560320"/>
            <a:ext cx="1508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0F6FC"/>
                </a:solidFill>
              </a:rPr>
              <a:t>SERVICE LAYER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874520" y="2633472"/>
            <a:ext cx="1539240" cy="950976"/>
          </a:xfrm>
          <a:prstGeom prst="rect">
            <a:avLst/>
          </a:prstGeom>
          <a:solidFill>
            <a:srgbClr val="161B22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874520" y="2633472"/>
            <a:ext cx="54864" cy="9509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965960" y="2633472"/>
            <a:ext cx="1429512" cy="95097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0F6FC"/>
                </a:solidFill>
              </a:rPr>
              <a:t>User Svc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578352" y="2633472"/>
            <a:ext cx="1539240" cy="950976"/>
          </a:xfrm>
          <a:prstGeom prst="rect">
            <a:avLst/>
          </a:prstGeom>
          <a:solidFill>
            <a:srgbClr val="161B22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578352" y="2633472"/>
            <a:ext cx="54864" cy="9509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69792" y="2633472"/>
            <a:ext cx="1429512" cy="95097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0F6FC"/>
                </a:solidFill>
              </a:rPr>
              <a:t>Laundry Svc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282184" y="2633472"/>
            <a:ext cx="1539240" cy="950976"/>
          </a:xfrm>
          <a:prstGeom prst="rect">
            <a:avLst/>
          </a:prstGeom>
          <a:solidFill>
            <a:srgbClr val="161B22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282184" y="2633472"/>
            <a:ext cx="54864" cy="9509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73624" y="2633472"/>
            <a:ext cx="1429512" cy="95097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0F6FC"/>
                </a:solidFill>
              </a:rPr>
              <a:t>Recycling Svc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986016" y="2633472"/>
            <a:ext cx="1539240" cy="950976"/>
          </a:xfrm>
          <a:prstGeom prst="rect">
            <a:avLst/>
          </a:prstGeom>
          <a:solidFill>
            <a:srgbClr val="161B22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986016" y="2633472"/>
            <a:ext cx="54864" cy="9509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077456" y="2633472"/>
            <a:ext cx="1429512" cy="95097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0F6FC"/>
                </a:solidFill>
              </a:rPr>
              <a:t>Upcycle Svc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8689848" y="2633472"/>
            <a:ext cx="1539240" cy="950976"/>
          </a:xfrm>
          <a:prstGeom prst="rect">
            <a:avLst/>
          </a:prstGeom>
          <a:solidFill>
            <a:srgbClr val="161B22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689848" y="2633472"/>
            <a:ext cx="54864" cy="9509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781288" y="2633472"/>
            <a:ext cx="1429512" cy="95097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0F6FC"/>
                </a:solidFill>
              </a:rPr>
              <a:t>Payment Svc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10393680" y="2633472"/>
            <a:ext cx="1539240" cy="950976"/>
          </a:xfrm>
          <a:prstGeom prst="rect">
            <a:avLst/>
          </a:prstGeom>
          <a:solidFill>
            <a:srgbClr val="161B22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393680" y="2633472"/>
            <a:ext cx="54864" cy="9509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485120" y="2633472"/>
            <a:ext cx="1429512" cy="95097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0F6FC"/>
                </a:solidFill>
              </a:rPr>
              <a:t>Order Svc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228600" y="3858768"/>
            <a:ext cx="1508760" cy="685800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28600" y="3858768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0F6FC"/>
                </a:solidFill>
              </a:rPr>
              <a:t>DATA LAYER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1874520" y="3931920"/>
            <a:ext cx="4946904" cy="539496"/>
          </a:xfrm>
          <a:prstGeom prst="rect">
            <a:avLst/>
          </a:prstGeom>
          <a:solidFill>
            <a:srgbClr val="161B22"/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874520" y="3931920"/>
            <a:ext cx="54864" cy="539496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965960" y="3931920"/>
            <a:ext cx="4837176" cy="53949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0F6FC"/>
                </a:solidFill>
              </a:rPr>
              <a:t>PostgreSQL (per service schema)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986016" y="3931920"/>
            <a:ext cx="4946904" cy="539496"/>
          </a:xfrm>
          <a:prstGeom prst="rect">
            <a:avLst/>
          </a:prstGeom>
          <a:solidFill>
            <a:srgbClr val="161B22"/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986016" y="3931920"/>
            <a:ext cx="54864" cy="539496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077456" y="3931920"/>
            <a:ext cx="4837176" cy="53949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0F6FC"/>
                </a:solidFill>
              </a:rPr>
              <a:t>JPA / Hibernate ORM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228600" y="4736592"/>
            <a:ext cx="1508760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28600" y="4736592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0F6FC"/>
                </a:solidFill>
              </a:rPr>
              <a:t>INFRASTRUCTURE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1874520" y="4809744"/>
            <a:ext cx="2391156" cy="539496"/>
          </a:xfrm>
          <a:prstGeom prst="rect">
            <a:avLst/>
          </a:prstGeom>
          <a:solidFill>
            <a:srgbClr val="161B22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874520" y="4809744"/>
            <a:ext cx="54864" cy="5394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965960" y="4809744"/>
            <a:ext cx="2281428" cy="53949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0F6FC"/>
                </a:solidFill>
              </a:rPr>
              <a:t>Netflix Eureka (Service Registry)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4430268" y="4809744"/>
            <a:ext cx="2391156" cy="539496"/>
          </a:xfrm>
          <a:prstGeom prst="rect">
            <a:avLst/>
          </a:prstGeom>
          <a:solidFill>
            <a:srgbClr val="161B22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430268" y="4809744"/>
            <a:ext cx="54864" cy="5394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521708" y="4809744"/>
            <a:ext cx="2281428" cy="53949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0F6FC"/>
                </a:solidFill>
              </a:rPr>
              <a:t>Spring Boot 3.x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6986016" y="4809744"/>
            <a:ext cx="2391156" cy="539496"/>
          </a:xfrm>
          <a:prstGeom prst="rect">
            <a:avLst/>
          </a:prstGeom>
          <a:solidFill>
            <a:srgbClr val="161B22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986016" y="4809744"/>
            <a:ext cx="54864" cy="5394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077456" y="4809744"/>
            <a:ext cx="2281428" cy="53949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0F6FC"/>
                </a:solidFill>
              </a:rPr>
              <a:t>Maven Build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9541764" y="4809744"/>
            <a:ext cx="2391156" cy="539496"/>
          </a:xfrm>
          <a:prstGeom prst="rect">
            <a:avLst/>
          </a:prstGeom>
          <a:solidFill>
            <a:srgbClr val="161B22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541764" y="4809744"/>
            <a:ext cx="54864" cy="5394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633204" y="4809744"/>
            <a:ext cx="2281428" cy="53949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0F6FC"/>
                </a:solidFill>
              </a:rPr>
              <a:t>GitHub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5943600" y="1481328"/>
            <a:ext cx="0" cy="182880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879592" y="1600200"/>
            <a:ext cx="64008" cy="91440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007608" y="1600200"/>
            <a:ext cx="-64008" cy="91440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943600" y="2359152"/>
            <a:ext cx="0" cy="182880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879592" y="2478024"/>
            <a:ext cx="64008" cy="91440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007608" y="2478024"/>
            <a:ext cx="-64008" cy="91440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943600" y="3675888"/>
            <a:ext cx="0" cy="182880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879592" y="3794760"/>
            <a:ext cx="64008" cy="91440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007608" y="3794760"/>
            <a:ext cx="-64008" cy="91440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943600" y="4553712"/>
            <a:ext cx="0" cy="182880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879592" y="4672584"/>
            <a:ext cx="64008" cy="91440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007608" y="4672584"/>
            <a:ext cx="-64008" cy="91440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28600" y="5650992"/>
            <a:ext cx="1325880" cy="29260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228600" y="5650992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4D399"/>
                </a:solidFill>
              </a:rPr>
              <a:t>Java 17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1691640" y="5650992"/>
            <a:ext cx="1325880" cy="29260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1691640" y="5650992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4D399"/>
                </a:solidFill>
              </a:rPr>
              <a:t>Spring Boot 3.x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3154680" y="5650992"/>
            <a:ext cx="1325880" cy="29260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154680" y="5650992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4D399"/>
                </a:solidFill>
              </a:rPr>
              <a:t>React JSX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4617720" y="5650992"/>
            <a:ext cx="1325880" cy="29260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617720" y="5650992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4D399"/>
                </a:solidFill>
              </a:rPr>
              <a:t>PostgreSQL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6080760" y="5650992"/>
            <a:ext cx="1325880" cy="29260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080760" y="5650992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4D399"/>
                </a:solidFill>
              </a:rPr>
              <a:t>JWT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7543800" y="5650992"/>
            <a:ext cx="1325880" cy="29260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7543800" y="5650992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4D399"/>
                </a:solidFill>
              </a:rPr>
              <a:t>JUnit 5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9006840" y="5650992"/>
            <a:ext cx="1325880" cy="29260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9006840" y="5650992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4D399"/>
                </a:solidFill>
              </a:rPr>
              <a:t>Mockito</a:t>
            </a:r>
            <a:endParaRPr lang="en-US" sz="800" dirty="0"/>
          </a:p>
        </p:txBody>
      </p:sp>
      <p:sp>
        <p:nvSpPr>
          <p:cNvPr id="98" name="Shape 96"/>
          <p:cNvSpPr/>
          <p:nvPr/>
        </p:nvSpPr>
        <p:spPr>
          <a:xfrm>
            <a:off x="10469880" y="5650992"/>
            <a:ext cx="1325880" cy="29260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10469880" y="5650992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4D399"/>
                </a:solidFill>
              </a:rPr>
              <a:t>Postman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73152"/>
            <a:ext cx="438912" cy="438912"/>
          </a:xfrm>
          <a:prstGeom prst="ellipse">
            <a:avLst/>
          </a:prstGeom>
          <a:solidFill>
            <a:srgbClr val="0D1117"/>
          </a:solidFill>
          <a:ln w="254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7315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731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0F6FC"/>
                </a:solidFill>
              </a:rPr>
              <a:t>Class Diagram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320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1FAE5"/>
                </a:solidFill>
              </a:rPr>
              <a:t>Core domain entities and their relationships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515600" y="10972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0D1117"/>
                </a:solidFill>
              </a:rPr>
              <a:t>REVASTRA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8600" y="822960"/>
            <a:ext cx="214884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822960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F6FC"/>
                </a:solidFill>
              </a:rPr>
              <a:t>User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28600" y="1170432"/>
            <a:ext cx="2148840" cy="1261872"/>
          </a:xfrm>
          <a:prstGeom prst="rect">
            <a:avLst/>
          </a:prstGeom>
          <a:solidFill>
            <a:srgbClr val="161B22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" y="1225296"/>
            <a:ext cx="20391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+id: Long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01752" y="1417320"/>
            <a:ext cx="20391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+name: String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01752" y="1609344"/>
            <a:ext cx="20391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+email: String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01752" y="1801368"/>
            <a:ext cx="20391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+passwordHash: String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01752" y="1993392"/>
            <a:ext cx="20391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+role: Role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01752" y="2185416"/>
            <a:ext cx="20391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+createdAt: Date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28600" y="2432304"/>
            <a:ext cx="2148840" cy="685800"/>
          </a:xfrm>
          <a:prstGeom prst="rect">
            <a:avLst/>
          </a:prstGeom>
          <a:solidFill>
            <a:srgbClr val="21262D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1752" y="2487168"/>
            <a:ext cx="20391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4D399"/>
                </a:solidFill>
              </a:rPr>
              <a:t>+register()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01752" y="2679192"/>
            <a:ext cx="20391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4D399"/>
                </a:solidFill>
              </a:rPr>
              <a:t>#login()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01752" y="2871216"/>
            <a:ext cx="20391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4D399"/>
                </a:solidFill>
              </a:rPr>
              <a:t>#getOrders()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834640" y="822960"/>
            <a:ext cx="214884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34640" y="822960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F6FC"/>
                </a:solidFill>
              </a:rPr>
              <a:t>Worker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834640" y="1170432"/>
            <a:ext cx="2148840" cy="1261872"/>
          </a:xfrm>
          <a:prstGeom prst="rect">
            <a:avLst/>
          </a:prstGeom>
          <a:solidFill>
            <a:srgbClr val="161B22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07792" y="1225296"/>
            <a:ext cx="20391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+id: Long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2907792" y="1417320"/>
            <a:ext cx="20391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+userId: Long (FK)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2907792" y="1609344"/>
            <a:ext cx="20391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+skills: String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907792" y="1801368"/>
            <a:ext cx="20391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+verified: boolean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2907792" y="1993392"/>
            <a:ext cx="20391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+badgeStatus: String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2907792" y="2185416"/>
            <a:ext cx="20391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+rating: Double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2834640" y="2432304"/>
            <a:ext cx="2148840" cy="685800"/>
          </a:xfrm>
          <a:prstGeom prst="rect">
            <a:avLst/>
          </a:prstGeom>
          <a:solidFill>
            <a:srgbClr val="21262D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07792" y="2487168"/>
            <a:ext cx="20391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4D399"/>
                </a:solidFill>
              </a:rPr>
              <a:t>+register()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2907792" y="2679192"/>
            <a:ext cx="20391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4D399"/>
                </a:solidFill>
              </a:rPr>
              <a:t>#getVerified()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2907792" y="2871216"/>
            <a:ext cx="20391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4D399"/>
                </a:solidFill>
              </a:rPr>
              <a:t>#listServices()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5440680" y="822960"/>
            <a:ext cx="2148840" cy="347472"/>
          </a:xfrm>
          <a:prstGeom prst="rect">
            <a:avLst/>
          </a:prstGeom>
          <a:solidFill>
            <a:srgbClr val="1D6FE8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40680" y="822960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F6FC"/>
                </a:solidFill>
              </a:rPr>
              <a:t>Order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440680" y="1170432"/>
            <a:ext cx="2148840" cy="1261872"/>
          </a:xfrm>
          <a:prstGeom prst="rect">
            <a:avLst/>
          </a:prstGeom>
          <a:solidFill>
            <a:srgbClr val="161B22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13832" y="1225296"/>
            <a:ext cx="20391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+id: Long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5513832" y="1417320"/>
            <a:ext cx="20391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+userId: Long (FK)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5513832" y="1609344"/>
            <a:ext cx="20391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+serviceType: String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5513832" y="1801368"/>
            <a:ext cx="20391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+status: OrderStatus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5513832" y="1993392"/>
            <a:ext cx="20391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+totalAmount: Double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5513832" y="2185416"/>
            <a:ext cx="20391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+createdAt: Date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5440680" y="2432304"/>
            <a:ext cx="2148840" cy="685800"/>
          </a:xfrm>
          <a:prstGeom prst="rect">
            <a:avLst/>
          </a:prstGeom>
          <a:solidFill>
            <a:srgbClr val="21262D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513832" y="2487168"/>
            <a:ext cx="20391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4D399"/>
                </a:solidFill>
              </a:rPr>
              <a:t>+create()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5513832" y="2679192"/>
            <a:ext cx="20391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4D399"/>
                </a:solidFill>
              </a:rPr>
              <a:t>#updateStatus()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5513832" y="2871216"/>
            <a:ext cx="20391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4D399"/>
                </a:solidFill>
              </a:rPr>
              <a:t>#calculateTotal()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8046720" y="822960"/>
            <a:ext cx="214884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046720" y="822960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F6FC"/>
                </a:solidFill>
              </a:rPr>
              <a:t>Payment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8046720" y="1170432"/>
            <a:ext cx="2148840" cy="1261872"/>
          </a:xfrm>
          <a:prstGeom prst="rect">
            <a:avLst/>
          </a:prstGeom>
          <a:solidFill>
            <a:srgbClr val="161B22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119872" y="1225296"/>
            <a:ext cx="20391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+id: Long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8119872" y="1417320"/>
            <a:ext cx="20391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+orderId: Long (FK)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8119872" y="1609344"/>
            <a:ext cx="20391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+amount: Double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8119872" y="1801368"/>
            <a:ext cx="20391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+status: String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8119872" y="1993392"/>
            <a:ext cx="20391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+method: String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8119872" y="2185416"/>
            <a:ext cx="20391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+transactionRef: String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8046720" y="2432304"/>
            <a:ext cx="2148840" cy="685800"/>
          </a:xfrm>
          <a:prstGeom prst="rect">
            <a:avLst/>
          </a:prstGeom>
          <a:solidFill>
            <a:srgbClr val="21262D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119872" y="2487168"/>
            <a:ext cx="20391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4D399"/>
                </a:solidFill>
              </a:rPr>
              <a:t>+process()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8119872" y="2679192"/>
            <a:ext cx="20391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4D399"/>
                </a:solidFill>
              </a:rPr>
              <a:t>#void()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8119872" y="2871216"/>
            <a:ext cx="20391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4D399"/>
                </a:solidFill>
              </a:rPr>
              <a:t>#retry()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10058400" y="822960"/>
            <a:ext cx="2148840" cy="347472"/>
          </a:xfrm>
          <a:prstGeom prst="rect">
            <a:avLst/>
          </a:prstGeom>
          <a:solidFill>
            <a:srgbClr val="2EA043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0058400" y="822960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F6FC"/>
                </a:solidFill>
              </a:rPr>
              <a:t>Wallet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10058400" y="1170432"/>
            <a:ext cx="2148840" cy="1069848"/>
          </a:xfrm>
          <a:prstGeom prst="rect">
            <a:avLst/>
          </a:prstGeom>
          <a:solidFill>
            <a:srgbClr val="161B22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0131552" y="1225296"/>
            <a:ext cx="20391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+id: Long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10131552" y="1417320"/>
            <a:ext cx="20391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+userId: Long (FK)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10131552" y="1609344"/>
            <a:ext cx="20391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+balance: Double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10131552" y="1801368"/>
            <a:ext cx="20391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+rewardPoints: Integer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10131552" y="1993392"/>
            <a:ext cx="20391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+lastUpdated: Date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10058400" y="2240280"/>
            <a:ext cx="2148840" cy="685800"/>
          </a:xfrm>
          <a:prstGeom prst="rect">
            <a:avLst/>
          </a:prstGeom>
          <a:solidFill>
            <a:srgbClr val="21262D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0131552" y="2295144"/>
            <a:ext cx="20391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4D399"/>
                </a:solidFill>
              </a:rPr>
              <a:t>+topUp()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10131552" y="2487168"/>
            <a:ext cx="20391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4D399"/>
                </a:solidFill>
              </a:rPr>
              <a:t>#deduct()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10131552" y="2679192"/>
            <a:ext cx="20391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4D399"/>
                </a:solidFill>
              </a:rPr>
              <a:t>#redeemPoints()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228600" y="3931920"/>
            <a:ext cx="214884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28600" y="3931920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F6FC"/>
                </a:solidFill>
              </a:rPr>
              <a:t>Laundry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228600" y="4279392"/>
            <a:ext cx="2148840" cy="1069848"/>
          </a:xfrm>
          <a:prstGeom prst="rect">
            <a:avLst/>
          </a:prstGeom>
          <a:solidFill>
            <a:srgbClr val="161B22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01752" y="4334256"/>
            <a:ext cx="20391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+id: Long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301752" y="4526280"/>
            <a:ext cx="20391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+orderId: Long (FK)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301752" y="4718304"/>
            <a:ext cx="20391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+serviceItems: String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301752" y="4910328"/>
            <a:ext cx="20391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+pickupSlot: DateTime</a:t>
            </a:r>
            <a:endParaRPr lang="en-US" sz="750" dirty="0"/>
          </a:p>
        </p:txBody>
      </p:sp>
      <p:sp>
        <p:nvSpPr>
          <p:cNvPr id="79" name="Text 77"/>
          <p:cNvSpPr/>
          <p:nvPr/>
        </p:nvSpPr>
        <p:spPr>
          <a:xfrm>
            <a:off x="301752" y="5102352"/>
            <a:ext cx="20391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+deliverySlot: DateTime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228600" y="5349240"/>
            <a:ext cx="2148840" cy="493776"/>
          </a:xfrm>
          <a:prstGeom prst="rect">
            <a:avLst/>
          </a:prstGeom>
          <a:solidFill>
            <a:srgbClr val="21262D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01752" y="5404104"/>
            <a:ext cx="20391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4D399"/>
                </a:solidFill>
              </a:rPr>
              <a:t>+book()</a:t>
            </a:r>
            <a:endParaRPr lang="en-US" sz="750" dirty="0"/>
          </a:p>
        </p:txBody>
      </p:sp>
      <p:sp>
        <p:nvSpPr>
          <p:cNvPr id="82" name="Text 80"/>
          <p:cNvSpPr/>
          <p:nvPr/>
        </p:nvSpPr>
        <p:spPr>
          <a:xfrm>
            <a:off x="301752" y="5596128"/>
            <a:ext cx="20391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4D399"/>
                </a:solidFill>
              </a:rPr>
              <a:t>#schedulePickup()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2834640" y="3931920"/>
            <a:ext cx="2148840" cy="347472"/>
          </a:xfrm>
          <a:prstGeom prst="rect">
            <a:avLst/>
          </a:prstGeom>
          <a:solidFill>
            <a:srgbClr val="2EA043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2834640" y="3931920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F6FC"/>
                </a:solidFill>
              </a:rPr>
              <a:t>Recycling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2834640" y="4279392"/>
            <a:ext cx="2148840" cy="1069848"/>
          </a:xfrm>
          <a:prstGeom prst="rect">
            <a:avLst/>
          </a:prstGeom>
          <a:solidFill>
            <a:srgbClr val="161B22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2907792" y="4334256"/>
            <a:ext cx="20391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+id: Long</a:t>
            </a:r>
            <a:endParaRPr lang="en-US" sz="750" dirty="0"/>
          </a:p>
        </p:txBody>
      </p:sp>
      <p:sp>
        <p:nvSpPr>
          <p:cNvPr id="87" name="Text 85"/>
          <p:cNvSpPr/>
          <p:nvPr/>
        </p:nvSpPr>
        <p:spPr>
          <a:xfrm>
            <a:off x="2907792" y="4526280"/>
            <a:ext cx="20391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+userId: Long (FK)</a:t>
            </a:r>
            <a:endParaRPr lang="en-US" sz="750" dirty="0"/>
          </a:p>
        </p:txBody>
      </p:sp>
      <p:sp>
        <p:nvSpPr>
          <p:cNvPr id="88" name="Text 86"/>
          <p:cNvSpPr/>
          <p:nvPr/>
        </p:nvSpPr>
        <p:spPr>
          <a:xfrm>
            <a:off x="2907792" y="4718304"/>
            <a:ext cx="20391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+itemCount: Integer</a:t>
            </a:r>
            <a:endParaRPr lang="en-US" sz="750" dirty="0"/>
          </a:p>
        </p:txBody>
      </p:sp>
      <p:sp>
        <p:nvSpPr>
          <p:cNvPr id="89" name="Text 87"/>
          <p:cNvSpPr/>
          <p:nvPr/>
        </p:nvSpPr>
        <p:spPr>
          <a:xfrm>
            <a:off x="2907792" y="4910328"/>
            <a:ext cx="20391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+description: String</a:t>
            </a:r>
            <a:endParaRPr lang="en-US" sz="750" dirty="0"/>
          </a:p>
        </p:txBody>
      </p:sp>
      <p:sp>
        <p:nvSpPr>
          <p:cNvPr id="90" name="Text 88"/>
          <p:cNvSpPr/>
          <p:nvPr/>
        </p:nvSpPr>
        <p:spPr>
          <a:xfrm>
            <a:off x="2907792" y="5102352"/>
            <a:ext cx="20391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+pointsEarned: Integer</a:t>
            </a:r>
            <a:endParaRPr lang="en-US" sz="750" dirty="0"/>
          </a:p>
        </p:txBody>
      </p:sp>
      <p:sp>
        <p:nvSpPr>
          <p:cNvPr id="91" name="Shape 89"/>
          <p:cNvSpPr/>
          <p:nvPr/>
        </p:nvSpPr>
        <p:spPr>
          <a:xfrm>
            <a:off x="2834640" y="5349240"/>
            <a:ext cx="2148840" cy="493776"/>
          </a:xfrm>
          <a:prstGeom prst="rect">
            <a:avLst/>
          </a:prstGeom>
          <a:solidFill>
            <a:srgbClr val="21262D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2907792" y="5404104"/>
            <a:ext cx="20391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4D399"/>
                </a:solidFill>
              </a:rPr>
              <a:t>+donate()</a:t>
            </a:r>
            <a:endParaRPr lang="en-US" sz="750" dirty="0"/>
          </a:p>
        </p:txBody>
      </p:sp>
      <p:sp>
        <p:nvSpPr>
          <p:cNvPr id="93" name="Text 91"/>
          <p:cNvSpPr/>
          <p:nvPr/>
        </p:nvSpPr>
        <p:spPr>
          <a:xfrm>
            <a:off x="2907792" y="5596128"/>
            <a:ext cx="20391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4D399"/>
                </a:solidFill>
              </a:rPr>
              <a:t>#creditPoints()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5440680" y="3931920"/>
            <a:ext cx="214884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5440680" y="3931920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F6FC"/>
                </a:solidFill>
              </a:rPr>
              <a:t>Review</a:t>
            </a:r>
            <a:endParaRPr lang="en-US" sz="950" dirty="0"/>
          </a:p>
        </p:txBody>
      </p:sp>
      <p:sp>
        <p:nvSpPr>
          <p:cNvPr id="96" name="Shape 94"/>
          <p:cNvSpPr/>
          <p:nvPr/>
        </p:nvSpPr>
        <p:spPr>
          <a:xfrm>
            <a:off x="5440680" y="4279392"/>
            <a:ext cx="2148840" cy="1069848"/>
          </a:xfrm>
          <a:prstGeom prst="rect">
            <a:avLst/>
          </a:prstGeom>
          <a:solidFill>
            <a:srgbClr val="161B22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5513832" y="4334256"/>
            <a:ext cx="20391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+id: Long</a:t>
            </a:r>
            <a:endParaRPr lang="en-US" sz="750" dirty="0"/>
          </a:p>
        </p:txBody>
      </p:sp>
      <p:sp>
        <p:nvSpPr>
          <p:cNvPr id="98" name="Text 96"/>
          <p:cNvSpPr/>
          <p:nvPr/>
        </p:nvSpPr>
        <p:spPr>
          <a:xfrm>
            <a:off x="5513832" y="4526280"/>
            <a:ext cx="20391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+orderId: Long (FK)</a:t>
            </a:r>
            <a:endParaRPr lang="en-US" sz="750" dirty="0"/>
          </a:p>
        </p:txBody>
      </p:sp>
      <p:sp>
        <p:nvSpPr>
          <p:cNvPr id="99" name="Text 97"/>
          <p:cNvSpPr/>
          <p:nvPr/>
        </p:nvSpPr>
        <p:spPr>
          <a:xfrm>
            <a:off x="5513832" y="4718304"/>
            <a:ext cx="20391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+rating: Integer</a:t>
            </a:r>
            <a:endParaRPr lang="en-US" sz="750" dirty="0"/>
          </a:p>
        </p:txBody>
      </p:sp>
      <p:sp>
        <p:nvSpPr>
          <p:cNvPr id="100" name="Text 98"/>
          <p:cNvSpPr/>
          <p:nvPr/>
        </p:nvSpPr>
        <p:spPr>
          <a:xfrm>
            <a:off x="5513832" y="4910328"/>
            <a:ext cx="20391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+comment: String</a:t>
            </a:r>
            <a:endParaRPr lang="en-US" sz="750" dirty="0"/>
          </a:p>
        </p:txBody>
      </p:sp>
      <p:sp>
        <p:nvSpPr>
          <p:cNvPr id="101" name="Text 99"/>
          <p:cNvSpPr/>
          <p:nvPr/>
        </p:nvSpPr>
        <p:spPr>
          <a:xfrm>
            <a:off x="5513832" y="5102352"/>
            <a:ext cx="20391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+createdAt: Date</a:t>
            </a:r>
            <a:endParaRPr lang="en-US" sz="750" dirty="0"/>
          </a:p>
        </p:txBody>
      </p:sp>
      <p:sp>
        <p:nvSpPr>
          <p:cNvPr id="102" name="Shape 100"/>
          <p:cNvSpPr/>
          <p:nvPr/>
        </p:nvSpPr>
        <p:spPr>
          <a:xfrm>
            <a:off x="5440680" y="5349240"/>
            <a:ext cx="2148840" cy="493776"/>
          </a:xfrm>
          <a:prstGeom prst="rect">
            <a:avLst/>
          </a:prstGeom>
          <a:solidFill>
            <a:srgbClr val="21262D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5513832" y="5404104"/>
            <a:ext cx="20391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4D399"/>
                </a:solidFill>
              </a:rPr>
              <a:t>+submit()</a:t>
            </a:r>
            <a:endParaRPr lang="en-US" sz="750" dirty="0"/>
          </a:p>
        </p:txBody>
      </p:sp>
      <p:sp>
        <p:nvSpPr>
          <p:cNvPr id="104" name="Text 102"/>
          <p:cNvSpPr/>
          <p:nvPr/>
        </p:nvSpPr>
        <p:spPr>
          <a:xfrm>
            <a:off x="5513832" y="5596128"/>
            <a:ext cx="20391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4D399"/>
                </a:solidFill>
              </a:rPr>
              <a:t>#calculateAvgRating()</a:t>
            </a:r>
            <a:endParaRPr lang="en-US" sz="750" dirty="0"/>
          </a:p>
        </p:txBody>
      </p:sp>
      <p:sp>
        <p:nvSpPr>
          <p:cNvPr id="105" name="Shape 103"/>
          <p:cNvSpPr/>
          <p:nvPr/>
        </p:nvSpPr>
        <p:spPr>
          <a:xfrm>
            <a:off x="2377440" y="1645920"/>
            <a:ext cx="3063240" cy="0"/>
          </a:xfrm>
          <a:prstGeom prst="line">
            <a:avLst/>
          </a:prstGeom>
          <a:noFill/>
          <a:ln w="15240">
            <a:solidFill>
              <a:srgbClr val="34D399"/>
            </a:solidFill>
            <a:prstDash val="dash"/>
          </a:ln>
        </p:spPr>
      </p:sp>
      <p:sp>
        <p:nvSpPr>
          <p:cNvPr id="106" name="Text 104"/>
          <p:cNvSpPr/>
          <p:nvPr/>
        </p:nvSpPr>
        <p:spPr>
          <a:xfrm>
            <a:off x="4983480" y="150876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4D399"/>
                </a:solidFill>
              </a:rPr>
              <a:t>1..*</a:t>
            </a:r>
            <a:endParaRPr lang="en-US" sz="700" dirty="0"/>
          </a:p>
        </p:txBody>
      </p:sp>
      <p:sp>
        <p:nvSpPr>
          <p:cNvPr id="107" name="Shape 105"/>
          <p:cNvSpPr/>
          <p:nvPr/>
        </p:nvSpPr>
        <p:spPr>
          <a:xfrm>
            <a:off x="7589520" y="1645920"/>
            <a:ext cx="457200" cy="0"/>
          </a:xfrm>
          <a:prstGeom prst="line">
            <a:avLst/>
          </a:prstGeom>
          <a:noFill/>
          <a:ln w="15240">
            <a:solidFill>
              <a:srgbClr val="F59E0B"/>
            </a:solidFill>
            <a:prstDash val="dash"/>
          </a:ln>
        </p:spPr>
      </p:sp>
      <p:sp>
        <p:nvSpPr>
          <p:cNvPr id="108" name="Shape 106"/>
          <p:cNvSpPr/>
          <p:nvPr/>
        </p:nvSpPr>
        <p:spPr>
          <a:xfrm>
            <a:off x="11132820" y="3118104"/>
            <a:ext cx="0" cy="-2112264"/>
          </a:xfrm>
          <a:prstGeom prst="line">
            <a:avLst/>
          </a:prstGeom>
          <a:noFill/>
          <a:ln w="12700">
            <a:solidFill>
              <a:srgbClr val="2EA043"/>
            </a:solidFill>
            <a:prstDash val="dash"/>
          </a:ln>
        </p:spPr>
      </p:sp>
      <p:sp>
        <p:nvSpPr>
          <p:cNvPr id="109" name="Shape 107"/>
          <p:cNvSpPr/>
          <p:nvPr/>
        </p:nvSpPr>
        <p:spPr>
          <a:xfrm>
            <a:off x="6515100" y="3118104"/>
            <a:ext cx="0" cy="996696"/>
          </a:xfrm>
          <a:prstGeom prst="line">
            <a:avLst/>
          </a:prstGeom>
          <a:noFill/>
          <a:ln w="12700">
            <a:solidFill>
              <a:srgbClr val="EF4444"/>
            </a:solidFill>
            <a:prstDash val="dash"/>
          </a:ln>
        </p:spPr>
      </p:sp>
      <p:sp>
        <p:nvSpPr>
          <p:cNvPr id="110" name="Shape 108"/>
          <p:cNvSpPr/>
          <p:nvPr/>
        </p:nvSpPr>
        <p:spPr>
          <a:xfrm>
            <a:off x="1303020" y="3118104"/>
            <a:ext cx="0" cy="996696"/>
          </a:xfrm>
          <a:prstGeom prst="line">
            <a:avLst/>
          </a:prstGeom>
          <a:noFill/>
          <a:ln w="12700">
            <a:solidFill>
              <a:srgbClr val="0D9488"/>
            </a:solidFill>
            <a:prstDash val="dash"/>
          </a:ln>
        </p:spPr>
      </p:sp>
      <p:sp>
        <p:nvSpPr>
          <p:cNvPr id="111" name="Shape 109"/>
          <p:cNvSpPr/>
          <p:nvPr/>
        </p:nvSpPr>
        <p:spPr>
          <a:xfrm>
            <a:off x="3909060" y="3118104"/>
            <a:ext cx="0" cy="996696"/>
          </a:xfrm>
          <a:prstGeom prst="line">
            <a:avLst/>
          </a:prstGeom>
          <a:noFill/>
          <a:ln w="12700">
            <a:solidFill>
              <a:srgbClr val="2EA043"/>
            </a:solidFill>
            <a:prstDash val="dash"/>
          </a:ln>
        </p:spPr>
      </p:sp>
      <p:sp>
        <p:nvSpPr>
          <p:cNvPr id="112" name="Shape 110"/>
          <p:cNvSpPr/>
          <p:nvPr/>
        </p:nvSpPr>
        <p:spPr>
          <a:xfrm>
            <a:off x="9601200" y="5852160"/>
            <a:ext cx="457200" cy="0"/>
          </a:xfrm>
          <a:prstGeom prst="line">
            <a:avLst/>
          </a:prstGeom>
          <a:noFill/>
          <a:ln w="15240">
            <a:solidFill>
              <a:srgbClr val="34D399"/>
            </a:solidFill>
            <a:prstDash val="dash"/>
          </a:ln>
        </p:spPr>
      </p:sp>
      <p:sp>
        <p:nvSpPr>
          <p:cNvPr id="113" name="Text 111"/>
          <p:cNvSpPr/>
          <p:nvPr/>
        </p:nvSpPr>
        <p:spPr>
          <a:xfrm>
            <a:off x="10149840" y="57790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Association / FK Relationship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73152"/>
            <a:ext cx="438912" cy="438912"/>
          </a:xfrm>
          <a:prstGeom prst="ellipse">
            <a:avLst/>
          </a:prstGeom>
          <a:solidFill>
            <a:srgbClr val="0D1117"/>
          </a:solidFill>
          <a:ln w="254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7315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731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0F6FC"/>
                </a:solidFill>
              </a:rPr>
              <a:t>Swimlane Diagram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320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1FAE5"/>
                </a:solidFill>
              </a:rPr>
              <a:t>Laundry booking &amp; donation flows across system actors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515600" y="10972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0D1117"/>
                </a:solidFill>
              </a:rPr>
              <a:t>REVASTRA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658368"/>
            <a:ext cx="12161520" cy="99822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658368"/>
            <a:ext cx="1234440" cy="9982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658368"/>
            <a:ext cx="1234440" cy="998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0F6FC"/>
                </a:solidFill>
              </a:rPr>
              <a:t>USER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0" y="1656588"/>
            <a:ext cx="12161520" cy="998220"/>
          </a:xfrm>
          <a:prstGeom prst="rect">
            <a:avLst/>
          </a:prstGeom>
          <a:solidFill>
            <a:srgbClr val="111820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1656588"/>
            <a:ext cx="1234440" cy="998220"/>
          </a:xfrm>
          <a:prstGeom prst="rect">
            <a:avLst/>
          </a:prstGeom>
          <a:solidFill>
            <a:srgbClr val="1D6FE8"/>
          </a:solidFill>
          <a:ln w="12700">
            <a:solidFill>
              <a:srgbClr val="1D6F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0" y="1656588"/>
            <a:ext cx="1234440" cy="998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0F6FC"/>
                </a:solidFill>
              </a:rPr>
              <a:t>API GATEWAY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0" y="2654808"/>
            <a:ext cx="12161520" cy="99822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2654808"/>
            <a:ext cx="1234440" cy="9982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0" y="2654808"/>
            <a:ext cx="1234440" cy="998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0F6FC"/>
                </a:solidFill>
              </a:rPr>
              <a:t>LAUNDRY SVC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3653028"/>
            <a:ext cx="12161520" cy="998220"/>
          </a:xfrm>
          <a:prstGeom prst="rect">
            <a:avLst/>
          </a:prstGeom>
          <a:solidFill>
            <a:srgbClr val="111820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3653028"/>
            <a:ext cx="1234440" cy="998220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0" y="3653028"/>
            <a:ext cx="1234440" cy="998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0F6FC"/>
                </a:solidFill>
              </a:rPr>
              <a:t>RECYCLING SVC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0" y="4651248"/>
            <a:ext cx="12161520" cy="99822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651248"/>
            <a:ext cx="1234440" cy="9982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0" y="4651248"/>
            <a:ext cx="1234440" cy="998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0F6FC"/>
                </a:solidFill>
              </a:rPr>
              <a:t>PAYMENT SVC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0" y="5649468"/>
            <a:ext cx="12161520" cy="998220"/>
          </a:xfrm>
          <a:prstGeom prst="rect">
            <a:avLst/>
          </a:prstGeom>
          <a:solidFill>
            <a:srgbClr val="111820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5649468"/>
            <a:ext cx="1234440" cy="998220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0" y="5649468"/>
            <a:ext cx="1234440" cy="998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0F6FC"/>
                </a:solidFill>
              </a:rPr>
              <a:t>NOTIFICATION SVC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463040" y="938022"/>
            <a:ext cx="1097280" cy="438912"/>
          </a:xfrm>
          <a:prstGeom prst="rect">
            <a:avLst/>
          </a:prstGeom>
          <a:solidFill>
            <a:srgbClr val="0D9488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63040" y="938022"/>
            <a:ext cx="109728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0F6FC"/>
                </a:solidFill>
              </a:rPr>
              <a:t>Login /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0F6FC"/>
                </a:solidFill>
              </a:rPr>
              <a:t>Register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2788920" y="1936242"/>
            <a:ext cx="1097280" cy="438912"/>
          </a:xfrm>
          <a:prstGeom prst="rect">
            <a:avLst/>
          </a:prstGeom>
          <a:solidFill>
            <a:srgbClr val="1D6FE8"/>
          </a:solidFill>
          <a:ln w="19050">
            <a:solidFill>
              <a:srgbClr val="1D6F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88920" y="1936242"/>
            <a:ext cx="109728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0F6FC"/>
                </a:solidFill>
              </a:rPr>
              <a:t>Validate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0F6FC"/>
                </a:solidFill>
              </a:rPr>
              <a:t>JWT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160520" y="2934462"/>
            <a:ext cx="1097280" cy="438912"/>
          </a:xfrm>
          <a:prstGeom prst="rect">
            <a:avLst/>
          </a:prstGeom>
          <a:solidFill>
            <a:srgbClr val="7C3AED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60520" y="2934462"/>
            <a:ext cx="109728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0F6FC"/>
                </a:solidFill>
              </a:rPr>
              <a:t>Book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0F6FC"/>
                </a:solidFill>
              </a:rPr>
              <a:t>Laundry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532120" y="4930902"/>
            <a:ext cx="1097280" cy="438912"/>
          </a:xfrm>
          <a:prstGeom prst="rect">
            <a:avLst/>
          </a:prstGeom>
          <a:solidFill>
            <a:srgbClr val="F59E0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32120" y="4930902"/>
            <a:ext cx="109728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0F6FC"/>
                </a:solidFill>
              </a:rPr>
              <a:t>Create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0F6FC"/>
                </a:solidFill>
              </a:rPr>
              <a:t>Payment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6949440" y="5929122"/>
            <a:ext cx="1097280" cy="438912"/>
          </a:xfrm>
          <a:prstGeom prst="rect">
            <a:avLst/>
          </a:prstGeom>
          <a:solidFill>
            <a:srgbClr val="8B949E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49440" y="5929122"/>
            <a:ext cx="109728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0F6FC"/>
                </a:solidFill>
              </a:rPr>
              <a:t>Send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0F6FC"/>
                </a:solidFill>
              </a:rPr>
              <a:t>Confirmation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8321040" y="938022"/>
            <a:ext cx="1097280" cy="438912"/>
          </a:xfrm>
          <a:prstGeom prst="rect">
            <a:avLst/>
          </a:prstGeom>
          <a:solidFill>
            <a:srgbClr val="0D9488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21040" y="938022"/>
            <a:ext cx="109728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0F6FC"/>
                </a:solidFill>
              </a:rPr>
              <a:t>View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0F6FC"/>
                </a:solidFill>
              </a:rPr>
              <a:t>Order Status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2560320" y="1157478"/>
            <a:ext cx="114300" cy="0"/>
          </a:xfrm>
          <a:prstGeom prst="line">
            <a:avLst/>
          </a:prstGeom>
          <a:noFill/>
          <a:ln w="15240">
            <a:solidFill>
              <a:srgbClr val="34D39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674620" y="1157478"/>
            <a:ext cx="0" cy="998220"/>
          </a:xfrm>
          <a:prstGeom prst="line">
            <a:avLst/>
          </a:prstGeom>
          <a:noFill/>
          <a:ln w="15240">
            <a:solidFill>
              <a:srgbClr val="34D39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674620" y="2155698"/>
            <a:ext cx="114300" cy="0"/>
          </a:xfrm>
          <a:prstGeom prst="line">
            <a:avLst/>
          </a:prstGeom>
          <a:noFill/>
          <a:ln w="15240">
            <a:solidFill>
              <a:srgbClr val="34D39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886200" y="2155698"/>
            <a:ext cx="137160" cy="0"/>
          </a:xfrm>
          <a:prstGeom prst="line">
            <a:avLst/>
          </a:prstGeom>
          <a:noFill/>
          <a:ln w="15240">
            <a:solidFill>
              <a:srgbClr val="34D39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023360" y="2155698"/>
            <a:ext cx="0" cy="998220"/>
          </a:xfrm>
          <a:prstGeom prst="line">
            <a:avLst/>
          </a:prstGeom>
          <a:noFill/>
          <a:ln w="15240">
            <a:solidFill>
              <a:srgbClr val="34D39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023360" y="3153918"/>
            <a:ext cx="137160" cy="0"/>
          </a:xfrm>
          <a:prstGeom prst="line">
            <a:avLst/>
          </a:prstGeom>
          <a:noFill/>
          <a:ln w="15240">
            <a:solidFill>
              <a:srgbClr val="34D39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257800" y="3153918"/>
            <a:ext cx="137160" cy="0"/>
          </a:xfrm>
          <a:prstGeom prst="line">
            <a:avLst/>
          </a:prstGeom>
          <a:noFill/>
          <a:ln w="15240">
            <a:solidFill>
              <a:srgbClr val="34D39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394960" y="3153918"/>
            <a:ext cx="0" cy="1996440"/>
          </a:xfrm>
          <a:prstGeom prst="line">
            <a:avLst/>
          </a:prstGeom>
          <a:noFill/>
          <a:ln w="15240">
            <a:solidFill>
              <a:srgbClr val="34D39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394960" y="5150358"/>
            <a:ext cx="137160" cy="0"/>
          </a:xfrm>
          <a:prstGeom prst="line">
            <a:avLst/>
          </a:prstGeom>
          <a:noFill/>
          <a:ln w="15240">
            <a:solidFill>
              <a:srgbClr val="34D399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629400" y="5150358"/>
            <a:ext cx="160020" cy="0"/>
          </a:xfrm>
          <a:prstGeom prst="line">
            <a:avLst/>
          </a:prstGeom>
          <a:noFill/>
          <a:ln w="15240">
            <a:solidFill>
              <a:srgbClr val="34D399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789420" y="5150358"/>
            <a:ext cx="0" cy="998220"/>
          </a:xfrm>
          <a:prstGeom prst="line">
            <a:avLst/>
          </a:prstGeom>
          <a:noFill/>
          <a:ln w="15240">
            <a:solidFill>
              <a:srgbClr val="34D399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789420" y="6148578"/>
            <a:ext cx="160020" cy="0"/>
          </a:xfrm>
          <a:prstGeom prst="line">
            <a:avLst/>
          </a:prstGeom>
          <a:noFill/>
          <a:ln w="15240">
            <a:solidFill>
              <a:srgbClr val="34D399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046720" y="6148578"/>
            <a:ext cx="137160" cy="0"/>
          </a:xfrm>
          <a:prstGeom prst="line">
            <a:avLst/>
          </a:prstGeom>
          <a:noFill/>
          <a:ln w="15240">
            <a:solidFill>
              <a:srgbClr val="34D399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183880" y="1157478"/>
            <a:ext cx="0" cy="4991100"/>
          </a:xfrm>
          <a:prstGeom prst="line">
            <a:avLst/>
          </a:prstGeom>
          <a:noFill/>
          <a:ln w="15240">
            <a:solidFill>
              <a:srgbClr val="34D399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183880" y="1157478"/>
            <a:ext cx="137160" cy="0"/>
          </a:xfrm>
          <a:prstGeom prst="line">
            <a:avLst/>
          </a:prstGeom>
          <a:noFill/>
          <a:ln w="15240">
            <a:solidFill>
              <a:srgbClr val="34D399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692640" y="938022"/>
            <a:ext cx="1097280" cy="438912"/>
          </a:xfrm>
          <a:prstGeom prst="rect">
            <a:avLst/>
          </a:prstGeom>
          <a:solidFill>
            <a:srgbClr val="0D9488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692640" y="938022"/>
            <a:ext cx="109728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0F6FC"/>
                </a:solidFill>
              </a:rPr>
              <a:t>Submit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0F6FC"/>
                </a:solidFill>
              </a:rPr>
              <a:t>Donation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9692640" y="3932682"/>
            <a:ext cx="1097280" cy="438912"/>
          </a:xfrm>
          <a:prstGeom prst="rect">
            <a:avLst/>
          </a:prstGeom>
          <a:solidFill>
            <a:srgbClr val="2EA043"/>
          </a:solidFill>
          <a:ln w="19050">
            <a:solidFill>
              <a:srgbClr val="2EA04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692640" y="3932682"/>
            <a:ext cx="109728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0F6FC"/>
                </a:solidFill>
              </a:rPr>
              <a:t>Credit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0F6FC"/>
                </a:solidFill>
              </a:rPr>
              <a:t>Points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11064240" y="5929122"/>
            <a:ext cx="1097280" cy="438912"/>
          </a:xfrm>
          <a:prstGeom prst="rect">
            <a:avLst/>
          </a:prstGeom>
          <a:solidFill>
            <a:srgbClr val="8B949E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1064240" y="5929122"/>
            <a:ext cx="109728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0F6FC"/>
                </a:solidFill>
              </a:rPr>
              <a:t>Notify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0F6FC"/>
                </a:solidFill>
              </a:rPr>
              <a:t>User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10789920" y="1157478"/>
            <a:ext cx="-1097280" cy="0"/>
          </a:xfrm>
          <a:prstGeom prst="line">
            <a:avLst/>
          </a:prstGeom>
          <a:noFill/>
          <a:ln w="15240">
            <a:solidFill>
              <a:srgbClr val="2EA04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692640" y="1157478"/>
            <a:ext cx="0" cy="2994660"/>
          </a:xfrm>
          <a:prstGeom prst="line">
            <a:avLst/>
          </a:prstGeom>
          <a:noFill/>
          <a:ln w="15240">
            <a:solidFill>
              <a:srgbClr val="2EA043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692640" y="4152138"/>
            <a:ext cx="1097280" cy="0"/>
          </a:xfrm>
          <a:prstGeom prst="line">
            <a:avLst/>
          </a:prstGeom>
          <a:noFill/>
          <a:ln w="15240">
            <a:solidFill>
              <a:srgbClr val="2EA04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463040" y="647395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D9488"/>
                </a:solidFill>
              </a:rPr>
              <a:t>LAUNDRY BOOKING FLOW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1463040" y="6473952"/>
            <a:ext cx="137160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858000" y="647395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EA043"/>
                </a:solidFill>
              </a:rPr>
              <a:t>DONATION FLOW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6858000" y="6473952"/>
            <a:ext cx="914400" cy="0"/>
          </a:xfrm>
          <a:prstGeom prst="line">
            <a:avLst/>
          </a:prstGeom>
          <a:noFill/>
          <a:ln w="12700">
            <a:solidFill>
              <a:srgbClr val="2EA043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73152"/>
            <a:ext cx="438912" cy="438912"/>
          </a:xfrm>
          <a:prstGeom prst="ellipse">
            <a:avLst/>
          </a:prstGeom>
          <a:solidFill>
            <a:srgbClr val="0D1117"/>
          </a:solidFill>
          <a:ln w="254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7315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731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0F6FC"/>
                </a:solidFill>
              </a:rPr>
              <a:t>ER / Database Design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320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1FAE5"/>
                </a:solidFill>
              </a:rPr>
              <a:t>PostgreSQL schema — each microservice owns its schema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515600" y="10972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0D1117"/>
                </a:solidFill>
              </a:rPr>
              <a:t>REVASTRA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233172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74980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6FC"/>
                </a:solidFill>
              </a:rPr>
              <a:t>users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82880" y="1069848"/>
            <a:ext cx="2331720" cy="20116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069848"/>
            <a:ext cx="2221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59E0B"/>
                </a:solidFill>
              </a:rPr>
              <a:t>PK  id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182880" y="1271016"/>
            <a:ext cx="2331720" cy="201168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271016"/>
            <a:ext cx="2221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0F6FC"/>
                </a:solidFill>
              </a:rPr>
              <a:t>name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82880" y="1472184"/>
            <a:ext cx="2331720" cy="20116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1472184"/>
            <a:ext cx="2221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0F6FC"/>
                </a:solidFill>
              </a:rPr>
              <a:t>email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182880" y="1673352"/>
            <a:ext cx="2331720" cy="201168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1673352"/>
            <a:ext cx="2221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0F6FC"/>
                </a:solidFill>
              </a:rPr>
              <a:t>password_hash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182880" y="1874520"/>
            <a:ext cx="2331720" cy="20116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1874520"/>
            <a:ext cx="2221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0F6FC"/>
                </a:solidFill>
              </a:rPr>
              <a:t>role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182880" y="2075688"/>
            <a:ext cx="2331720" cy="201168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075688"/>
            <a:ext cx="2221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0F6FC"/>
                </a:solidFill>
              </a:rPr>
              <a:t>created_at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182880" y="3200400"/>
            <a:ext cx="233172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2880" y="32004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6FC"/>
                </a:solidFill>
              </a:rPr>
              <a:t>roles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82880" y="3520440"/>
            <a:ext cx="2331720" cy="20116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3520440"/>
            <a:ext cx="2221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59E0B"/>
                </a:solidFill>
              </a:rPr>
              <a:t>PK  id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182880" y="3721608"/>
            <a:ext cx="2331720" cy="201168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721608"/>
            <a:ext cx="2221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0F6FC"/>
                </a:solidFill>
              </a:rPr>
              <a:t>role_name (USER/WORKER/ADMIN)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017520" y="749808"/>
            <a:ext cx="2331720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017520" y="74980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6FC"/>
                </a:solidFill>
              </a:rPr>
              <a:t>workers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017520" y="1069848"/>
            <a:ext cx="2331720" cy="20116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08960" y="1069848"/>
            <a:ext cx="2221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59E0B"/>
                </a:solidFill>
              </a:rPr>
              <a:t>PK  id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3017520" y="1271016"/>
            <a:ext cx="2331720" cy="201168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08960" y="1271016"/>
            <a:ext cx="2221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4D399"/>
                </a:solidFill>
              </a:rPr>
              <a:t>FK  user_id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3017520" y="1472184"/>
            <a:ext cx="2331720" cy="20116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108960" y="1472184"/>
            <a:ext cx="2221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0F6FC"/>
                </a:solidFill>
              </a:rPr>
              <a:t>skills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3017520" y="1673352"/>
            <a:ext cx="2331720" cy="201168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108960" y="1673352"/>
            <a:ext cx="2221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0F6FC"/>
                </a:solidFill>
              </a:rPr>
              <a:t>verified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3017520" y="1874520"/>
            <a:ext cx="2331720" cy="20116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108960" y="1874520"/>
            <a:ext cx="2221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0F6FC"/>
                </a:solidFill>
              </a:rPr>
              <a:t>badge_status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3017520" y="2075688"/>
            <a:ext cx="2331720" cy="201168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108960" y="2075688"/>
            <a:ext cx="2221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0F6FC"/>
                </a:solidFill>
              </a:rPr>
              <a:t>rating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5349240" y="749808"/>
            <a:ext cx="2606040" cy="320040"/>
          </a:xfrm>
          <a:prstGeom prst="rect">
            <a:avLst/>
          </a:prstGeom>
          <a:solidFill>
            <a:srgbClr val="1D6FE8"/>
          </a:solidFill>
          <a:ln w="12700">
            <a:solidFill>
              <a:srgbClr val="1D6F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49240" y="74980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6FC"/>
                </a:solidFill>
              </a:rPr>
              <a:t>orders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349240" y="1069848"/>
            <a:ext cx="2606040" cy="20116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40680" y="1069848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59E0B"/>
                </a:solidFill>
              </a:rPr>
              <a:t>PK  id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5349240" y="1271016"/>
            <a:ext cx="2606040" cy="201168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40680" y="1271016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4D399"/>
                </a:solidFill>
              </a:rPr>
              <a:t>FK  user_id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5349240" y="1472184"/>
            <a:ext cx="2606040" cy="20116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40680" y="1472184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0F6FC"/>
                </a:solidFill>
              </a:rPr>
              <a:t>service_type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5349240" y="1673352"/>
            <a:ext cx="2606040" cy="201168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40680" y="1673352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0F6FC"/>
                </a:solidFill>
              </a:rPr>
              <a:t>status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5349240" y="1874520"/>
            <a:ext cx="2606040" cy="20116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440680" y="1874520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0F6FC"/>
                </a:solidFill>
              </a:rPr>
              <a:t>total_amount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5349240" y="2075688"/>
            <a:ext cx="2606040" cy="201168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440680" y="2075688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0F6FC"/>
                </a:solidFill>
              </a:rPr>
              <a:t>created_at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3017520" y="3200400"/>
            <a:ext cx="2331720" cy="320040"/>
          </a:xfrm>
          <a:prstGeom prst="rect">
            <a:avLst/>
          </a:prstGeom>
          <a:solidFill>
            <a:srgbClr val="1D6FE8"/>
          </a:solidFill>
          <a:ln w="12700">
            <a:solidFill>
              <a:srgbClr val="1D6FE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017520" y="32004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6FC"/>
                </a:solidFill>
              </a:rPr>
              <a:t>laundry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3017520" y="3520440"/>
            <a:ext cx="2331720" cy="20116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108960" y="3520440"/>
            <a:ext cx="2221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59E0B"/>
                </a:solidFill>
              </a:rPr>
              <a:t>PK  id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3017520" y="3721608"/>
            <a:ext cx="2331720" cy="201168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108960" y="3721608"/>
            <a:ext cx="2221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4D399"/>
                </a:solidFill>
              </a:rPr>
              <a:t>FK  order_id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3017520" y="3922776"/>
            <a:ext cx="2331720" cy="20116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108960" y="3922776"/>
            <a:ext cx="2221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0F6FC"/>
                </a:solidFill>
              </a:rPr>
              <a:t>service_items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3017520" y="4123944"/>
            <a:ext cx="2331720" cy="201168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108960" y="4123944"/>
            <a:ext cx="2221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0F6FC"/>
                </a:solidFill>
              </a:rPr>
              <a:t>pickup_slot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3017520" y="4325112"/>
            <a:ext cx="2331720" cy="20116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108960" y="4325112"/>
            <a:ext cx="2221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0F6FC"/>
                </a:solidFill>
              </a:rPr>
              <a:t>delivery_slot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5349240" y="3200400"/>
            <a:ext cx="2606040" cy="320040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349240" y="320040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6FC"/>
                </a:solidFill>
              </a:rPr>
              <a:t>recycling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5349240" y="3520440"/>
            <a:ext cx="2606040" cy="20116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440680" y="3520440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59E0B"/>
                </a:solidFill>
              </a:rPr>
              <a:t>PK  id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5349240" y="3721608"/>
            <a:ext cx="2606040" cy="201168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440680" y="3721608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4D399"/>
                </a:solidFill>
              </a:rPr>
              <a:t>FK  user_id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5349240" y="3922776"/>
            <a:ext cx="2606040" cy="20116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440680" y="3922776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0F6FC"/>
                </a:solidFill>
              </a:rPr>
              <a:t>item_count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5349240" y="4123944"/>
            <a:ext cx="2606040" cy="201168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440680" y="4123944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0F6FC"/>
                </a:solidFill>
              </a:rPr>
              <a:t>description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5349240" y="4325112"/>
            <a:ext cx="2606040" cy="20116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440680" y="4325112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0F6FC"/>
                </a:solidFill>
              </a:rPr>
              <a:t>points_earned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8092440" y="749808"/>
            <a:ext cx="2331720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8092440" y="74980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6FC"/>
                </a:solidFill>
              </a:rPr>
              <a:t>payments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8092440" y="1069848"/>
            <a:ext cx="2331720" cy="20116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8183880" y="1069848"/>
            <a:ext cx="2221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59E0B"/>
                </a:solidFill>
              </a:rPr>
              <a:t>PK  id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8092440" y="1271016"/>
            <a:ext cx="2331720" cy="201168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8183880" y="1271016"/>
            <a:ext cx="2221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4D399"/>
                </a:solidFill>
              </a:rPr>
              <a:t>FK  order_id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8092440" y="1472184"/>
            <a:ext cx="2331720" cy="20116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8183880" y="1472184"/>
            <a:ext cx="2221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0F6FC"/>
                </a:solidFill>
              </a:rPr>
              <a:t>amount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8092440" y="1673352"/>
            <a:ext cx="2331720" cy="201168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8183880" y="1673352"/>
            <a:ext cx="2221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0F6FC"/>
                </a:solidFill>
              </a:rPr>
              <a:t>status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8092440" y="1874520"/>
            <a:ext cx="2331720" cy="20116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8183880" y="1874520"/>
            <a:ext cx="2221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0F6FC"/>
                </a:solidFill>
              </a:rPr>
              <a:t>method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8092440" y="2075688"/>
            <a:ext cx="2331720" cy="201168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8183880" y="2075688"/>
            <a:ext cx="2221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0F6FC"/>
                </a:solidFill>
              </a:rPr>
              <a:t>transaction_ref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8092440" y="3200400"/>
            <a:ext cx="2331720" cy="320040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8092440" y="32004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6FC"/>
                </a:solidFill>
              </a:rPr>
              <a:t>wallets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8092440" y="3520440"/>
            <a:ext cx="2331720" cy="20116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8183880" y="3520440"/>
            <a:ext cx="2221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59E0B"/>
                </a:solidFill>
              </a:rPr>
              <a:t>PK  id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8092440" y="3721608"/>
            <a:ext cx="2331720" cy="201168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8183880" y="3721608"/>
            <a:ext cx="2221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4D399"/>
                </a:solidFill>
              </a:rPr>
              <a:t>FK  user_id</a:t>
            </a:r>
            <a:endParaRPr lang="en-US" sz="750" dirty="0"/>
          </a:p>
        </p:txBody>
      </p:sp>
      <p:sp>
        <p:nvSpPr>
          <p:cNvPr id="100" name="Shape 98"/>
          <p:cNvSpPr/>
          <p:nvPr/>
        </p:nvSpPr>
        <p:spPr>
          <a:xfrm>
            <a:off x="8092440" y="3922776"/>
            <a:ext cx="2331720" cy="20116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8183880" y="3922776"/>
            <a:ext cx="2221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0F6FC"/>
                </a:solidFill>
              </a:rPr>
              <a:t>balance</a:t>
            </a:r>
            <a:endParaRPr lang="en-US" sz="750" dirty="0"/>
          </a:p>
        </p:txBody>
      </p:sp>
      <p:sp>
        <p:nvSpPr>
          <p:cNvPr id="102" name="Shape 100"/>
          <p:cNvSpPr/>
          <p:nvPr/>
        </p:nvSpPr>
        <p:spPr>
          <a:xfrm>
            <a:off x="8092440" y="4123944"/>
            <a:ext cx="2331720" cy="201168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8183880" y="4123944"/>
            <a:ext cx="2221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0F6FC"/>
                </a:solidFill>
              </a:rPr>
              <a:t>reward_points</a:t>
            </a:r>
            <a:endParaRPr lang="en-US" sz="750" dirty="0"/>
          </a:p>
        </p:txBody>
      </p:sp>
      <p:sp>
        <p:nvSpPr>
          <p:cNvPr id="104" name="Shape 102"/>
          <p:cNvSpPr/>
          <p:nvPr/>
        </p:nvSpPr>
        <p:spPr>
          <a:xfrm>
            <a:off x="8092440" y="4325112"/>
            <a:ext cx="2331720" cy="20116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8183880" y="4325112"/>
            <a:ext cx="2221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0F6FC"/>
                </a:solidFill>
              </a:rPr>
              <a:t>last_updated</a:t>
            </a:r>
            <a:endParaRPr lang="en-US" sz="750" dirty="0"/>
          </a:p>
        </p:txBody>
      </p:sp>
      <p:sp>
        <p:nvSpPr>
          <p:cNvPr id="106" name="Shape 104"/>
          <p:cNvSpPr/>
          <p:nvPr/>
        </p:nvSpPr>
        <p:spPr>
          <a:xfrm>
            <a:off x="10424160" y="749808"/>
            <a:ext cx="2331720" cy="320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10424160" y="74980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6FC"/>
                </a:solidFill>
              </a:rPr>
              <a:t>reviews</a:t>
            </a:r>
            <a:endParaRPr lang="en-US" sz="900" dirty="0"/>
          </a:p>
        </p:txBody>
      </p:sp>
      <p:sp>
        <p:nvSpPr>
          <p:cNvPr id="108" name="Shape 106"/>
          <p:cNvSpPr/>
          <p:nvPr/>
        </p:nvSpPr>
        <p:spPr>
          <a:xfrm>
            <a:off x="10424160" y="1069848"/>
            <a:ext cx="2331720" cy="20116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10515600" y="1069848"/>
            <a:ext cx="2221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59E0B"/>
                </a:solidFill>
              </a:rPr>
              <a:t>PK  id</a:t>
            </a:r>
            <a:endParaRPr lang="en-US" sz="750" dirty="0"/>
          </a:p>
        </p:txBody>
      </p:sp>
      <p:sp>
        <p:nvSpPr>
          <p:cNvPr id="110" name="Shape 108"/>
          <p:cNvSpPr/>
          <p:nvPr/>
        </p:nvSpPr>
        <p:spPr>
          <a:xfrm>
            <a:off x="10424160" y="1271016"/>
            <a:ext cx="2331720" cy="201168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10515600" y="1271016"/>
            <a:ext cx="2221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4D399"/>
                </a:solidFill>
              </a:rPr>
              <a:t>FK  order_id</a:t>
            </a:r>
            <a:endParaRPr lang="en-US" sz="750" dirty="0"/>
          </a:p>
        </p:txBody>
      </p:sp>
      <p:sp>
        <p:nvSpPr>
          <p:cNvPr id="112" name="Shape 110"/>
          <p:cNvSpPr/>
          <p:nvPr/>
        </p:nvSpPr>
        <p:spPr>
          <a:xfrm>
            <a:off x="10424160" y="1472184"/>
            <a:ext cx="2331720" cy="20116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10515600" y="1472184"/>
            <a:ext cx="2221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0F6FC"/>
                </a:solidFill>
              </a:rPr>
              <a:t>rating (1-5)</a:t>
            </a:r>
            <a:endParaRPr lang="en-US" sz="750" dirty="0"/>
          </a:p>
        </p:txBody>
      </p:sp>
      <p:sp>
        <p:nvSpPr>
          <p:cNvPr id="114" name="Shape 112"/>
          <p:cNvSpPr/>
          <p:nvPr/>
        </p:nvSpPr>
        <p:spPr>
          <a:xfrm>
            <a:off x="10424160" y="1673352"/>
            <a:ext cx="2331720" cy="201168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10515600" y="1673352"/>
            <a:ext cx="2221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0F6FC"/>
                </a:solidFill>
              </a:rPr>
              <a:t>comment</a:t>
            </a:r>
            <a:endParaRPr lang="en-US" sz="750" dirty="0"/>
          </a:p>
        </p:txBody>
      </p:sp>
      <p:sp>
        <p:nvSpPr>
          <p:cNvPr id="116" name="Shape 114"/>
          <p:cNvSpPr/>
          <p:nvPr/>
        </p:nvSpPr>
        <p:spPr>
          <a:xfrm>
            <a:off x="10424160" y="1874520"/>
            <a:ext cx="2331720" cy="20116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10515600" y="1874520"/>
            <a:ext cx="2221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0F6FC"/>
                </a:solidFill>
              </a:rPr>
              <a:t>created_at</a:t>
            </a:r>
            <a:endParaRPr lang="en-US" sz="750" dirty="0"/>
          </a:p>
        </p:txBody>
      </p:sp>
      <p:sp>
        <p:nvSpPr>
          <p:cNvPr id="118" name="Shape 116"/>
          <p:cNvSpPr/>
          <p:nvPr/>
        </p:nvSpPr>
        <p:spPr>
          <a:xfrm>
            <a:off x="2514600" y="1207008"/>
            <a:ext cx="502920" cy="0"/>
          </a:xfrm>
          <a:prstGeom prst="line">
            <a:avLst/>
          </a:prstGeom>
          <a:noFill/>
          <a:ln w="12700">
            <a:solidFill>
              <a:srgbClr val="8B949E"/>
            </a:solidFill>
            <a:prstDash val="sysDash"/>
          </a:ln>
        </p:spPr>
      </p:sp>
      <p:sp>
        <p:nvSpPr>
          <p:cNvPr id="119" name="Shape 117"/>
          <p:cNvSpPr/>
          <p:nvPr/>
        </p:nvSpPr>
        <p:spPr>
          <a:xfrm>
            <a:off x="2514600" y="1527048"/>
            <a:ext cx="2834640" cy="-320040"/>
          </a:xfrm>
          <a:prstGeom prst="line">
            <a:avLst/>
          </a:prstGeom>
          <a:noFill/>
          <a:ln w="12700">
            <a:solidFill>
              <a:srgbClr val="8B949E"/>
            </a:solidFill>
            <a:prstDash val="sysDash"/>
          </a:ln>
        </p:spPr>
      </p:sp>
      <p:sp>
        <p:nvSpPr>
          <p:cNvPr id="120" name="Shape 118"/>
          <p:cNvSpPr/>
          <p:nvPr/>
        </p:nvSpPr>
        <p:spPr>
          <a:xfrm>
            <a:off x="6652260" y="2276856"/>
            <a:ext cx="-2468880" cy="923544"/>
          </a:xfrm>
          <a:prstGeom prst="line">
            <a:avLst/>
          </a:prstGeom>
          <a:noFill/>
          <a:ln w="12700">
            <a:solidFill>
              <a:srgbClr val="8B949E"/>
            </a:solidFill>
            <a:prstDash val="sysDash"/>
          </a:ln>
        </p:spPr>
      </p:sp>
      <p:sp>
        <p:nvSpPr>
          <p:cNvPr id="121" name="Shape 119"/>
          <p:cNvSpPr/>
          <p:nvPr/>
        </p:nvSpPr>
        <p:spPr>
          <a:xfrm>
            <a:off x="7955280" y="1298448"/>
            <a:ext cx="137160" cy="0"/>
          </a:xfrm>
          <a:prstGeom prst="line">
            <a:avLst/>
          </a:prstGeom>
          <a:noFill/>
          <a:ln w="12700">
            <a:solidFill>
              <a:srgbClr val="8B949E"/>
            </a:solidFill>
            <a:prstDash val="sysDash"/>
          </a:ln>
        </p:spPr>
      </p:sp>
      <p:sp>
        <p:nvSpPr>
          <p:cNvPr id="122" name="Shape 120"/>
          <p:cNvSpPr/>
          <p:nvPr/>
        </p:nvSpPr>
        <p:spPr>
          <a:xfrm>
            <a:off x="10424160" y="1024128"/>
            <a:ext cx="0" cy="0"/>
          </a:xfrm>
          <a:prstGeom prst="line">
            <a:avLst/>
          </a:prstGeom>
          <a:noFill/>
          <a:ln w="12700">
            <a:solidFill>
              <a:srgbClr val="8B949E"/>
            </a:solidFill>
            <a:prstDash val="sysDash"/>
          </a:ln>
        </p:spPr>
      </p:sp>
      <p:sp>
        <p:nvSpPr>
          <p:cNvPr id="123" name="Shape 121"/>
          <p:cNvSpPr/>
          <p:nvPr/>
        </p:nvSpPr>
        <p:spPr>
          <a:xfrm>
            <a:off x="2514600" y="1755648"/>
            <a:ext cx="2834640" cy="1810512"/>
          </a:xfrm>
          <a:prstGeom prst="line">
            <a:avLst/>
          </a:prstGeom>
          <a:noFill/>
          <a:ln w="12700">
            <a:solidFill>
              <a:srgbClr val="8B949E"/>
            </a:solidFill>
            <a:prstDash val="sysDash"/>
          </a:ln>
        </p:spPr>
      </p:sp>
      <p:sp>
        <p:nvSpPr>
          <p:cNvPr id="124" name="Shape 122"/>
          <p:cNvSpPr/>
          <p:nvPr/>
        </p:nvSpPr>
        <p:spPr>
          <a:xfrm>
            <a:off x="2514600" y="2029968"/>
            <a:ext cx="5577840" cy="1536192"/>
          </a:xfrm>
          <a:prstGeom prst="line">
            <a:avLst/>
          </a:prstGeom>
          <a:noFill/>
          <a:ln w="12700">
            <a:solidFill>
              <a:srgbClr val="8B949E"/>
            </a:solidFill>
            <a:prstDash val="sysDash"/>
          </a:ln>
        </p:spPr>
      </p:sp>
      <p:sp>
        <p:nvSpPr>
          <p:cNvPr id="125" name="Shape 123"/>
          <p:cNvSpPr/>
          <p:nvPr/>
        </p:nvSpPr>
        <p:spPr>
          <a:xfrm>
            <a:off x="182880" y="6309360"/>
            <a:ext cx="365760" cy="137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640080" y="62636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PK — Primary Key</a:t>
            </a:r>
            <a:endParaRPr lang="en-US" sz="750" dirty="0"/>
          </a:p>
        </p:txBody>
      </p:sp>
      <p:sp>
        <p:nvSpPr>
          <p:cNvPr id="127" name="Shape 125"/>
          <p:cNvSpPr/>
          <p:nvPr/>
        </p:nvSpPr>
        <p:spPr>
          <a:xfrm>
            <a:off x="2926080" y="6309360"/>
            <a:ext cx="365760" cy="1371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3383280" y="62636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FK — Foreign Key</a:t>
            </a:r>
            <a:endParaRPr lang="en-US" sz="750" dirty="0"/>
          </a:p>
        </p:txBody>
      </p:sp>
      <p:sp>
        <p:nvSpPr>
          <p:cNvPr id="129" name="Shape 127"/>
          <p:cNvSpPr/>
          <p:nvPr/>
        </p:nvSpPr>
        <p:spPr>
          <a:xfrm>
            <a:off x="5486400" y="6377940"/>
            <a:ext cx="457200" cy="0"/>
          </a:xfrm>
          <a:prstGeom prst="line">
            <a:avLst/>
          </a:prstGeom>
          <a:noFill/>
          <a:ln w="12700">
            <a:solidFill>
              <a:srgbClr val="8B949E"/>
            </a:solidFill>
            <a:prstDash val="sysDash"/>
          </a:ln>
        </p:spPr>
      </p:sp>
      <p:sp>
        <p:nvSpPr>
          <p:cNvPr id="130" name="Text 128"/>
          <p:cNvSpPr/>
          <p:nvPr/>
        </p:nvSpPr>
        <p:spPr>
          <a:xfrm>
            <a:off x="6035040" y="62636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Relationship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73152"/>
            <a:ext cx="438912" cy="438912"/>
          </a:xfrm>
          <a:prstGeom prst="ellipse">
            <a:avLst/>
          </a:prstGeom>
          <a:solidFill>
            <a:srgbClr val="0D1117"/>
          </a:solidFill>
          <a:ln w="254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7315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731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0F6FC"/>
                </a:solidFill>
              </a:rPr>
              <a:t>Combined Diagram — Architecture + Data Flow + Database Design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320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1FAE5"/>
                </a:solidFill>
              </a:rPr>
              <a:t>End-to-end view: how requests flow from client through services to database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515600" y="10972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0D1117"/>
                </a:solidFill>
              </a:rPr>
              <a:t>REVASTRA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64592" y="777240"/>
            <a:ext cx="1828800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64592" y="777240"/>
            <a:ext cx="182880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6FC"/>
                </a:solidFill>
              </a:rPr>
              <a:t>CLIENT</a:t>
            </a:r>
            <a:endParaRPr lang="en-US" sz="9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D1FAE5"/>
                </a:solidFill>
              </a:rPr>
              <a:t>React + Axios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78992" y="1344168"/>
            <a:ext cx="0" cy="201168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14984" y="1435608"/>
            <a:ext cx="64008" cy="109728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43000" y="1435608"/>
            <a:ext cx="-64008" cy="109728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4592" y="1481328"/>
            <a:ext cx="1828800" cy="566928"/>
          </a:xfrm>
          <a:prstGeom prst="rect">
            <a:avLst/>
          </a:prstGeom>
          <a:solidFill>
            <a:srgbClr val="1D6FE8"/>
          </a:solidFill>
          <a:ln w="12700">
            <a:solidFill>
              <a:srgbClr val="1D6F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64592" y="1481328"/>
            <a:ext cx="182880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6FC"/>
                </a:solidFill>
              </a:rPr>
              <a:t>GATEWAY</a:t>
            </a:r>
            <a:endParaRPr lang="en-US" sz="9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D1FAE5"/>
                </a:solidFill>
              </a:rPr>
              <a:t>Spring Cloud Gateway</a:t>
            </a:r>
            <a:endParaRPr lang="en-US" sz="9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D1FAE5"/>
                </a:solidFill>
              </a:rPr>
              <a:t>JWT Auth Filter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78992" y="2048256"/>
            <a:ext cx="0" cy="201168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14984" y="2139696"/>
            <a:ext cx="64008" cy="109728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43000" y="2139696"/>
            <a:ext cx="-64008" cy="109728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2331720"/>
            <a:ext cx="1828800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64592" y="2331720"/>
            <a:ext cx="182880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6FC"/>
                </a:solidFill>
              </a:rPr>
              <a:t>EUREKA</a:t>
            </a:r>
            <a:endParaRPr lang="en-US" sz="9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D1FAE5"/>
                </a:solidFill>
              </a:rPr>
              <a:t>Service Registry</a:t>
            </a:r>
            <a:endParaRPr lang="en-US" sz="9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D1FAE5"/>
                </a:solidFill>
              </a:rPr>
              <a:t>Discovery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377440" y="777240"/>
            <a:ext cx="1691640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377440" y="777240"/>
            <a:ext cx="1691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6FC"/>
                </a:solidFill>
              </a:rPr>
              <a:t>User Svc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993392" y="1764792"/>
            <a:ext cx="384048" cy="-704088"/>
          </a:xfrm>
          <a:prstGeom prst="line">
            <a:avLst/>
          </a:prstGeom>
          <a:noFill/>
          <a:ln w="10160">
            <a:solidFill>
              <a:srgbClr val="34D399">
                <a:alpha val="6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51960" y="777240"/>
            <a:ext cx="1691640" cy="566928"/>
          </a:xfrm>
          <a:prstGeom prst="rect">
            <a:avLst/>
          </a:prstGeom>
          <a:solidFill>
            <a:srgbClr val="1D6FE8"/>
          </a:solidFill>
          <a:ln w="12700">
            <a:solidFill>
              <a:srgbClr val="1D6F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251960" y="777240"/>
            <a:ext cx="1691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6FC"/>
                </a:solidFill>
              </a:rPr>
              <a:t>Laundry Svc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993392" y="1764792"/>
            <a:ext cx="2258568" cy="-704088"/>
          </a:xfrm>
          <a:prstGeom prst="line">
            <a:avLst/>
          </a:prstGeom>
          <a:noFill/>
          <a:ln w="10160">
            <a:solidFill>
              <a:srgbClr val="34D399">
                <a:alpha val="6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377440" y="1828800"/>
            <a:ext cx="1691640" cy="566928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377440" y="1828800"/>
            <a:ext cx="1691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6FC"/>
                </a:solidFill>
              </a:rPr>
              <a:t>Recycling Svc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993392" y="1764792"/>
            <a:ext cx="384048" cy="347472"/>
          </a:xfrm>
          <a:prstGeom prst="line">
            <a:avLst/>
          </a:prstGeom>
          <a:noFill/>
          <a:ln w="10160">
            <a:solidFill>
              <a:srgbClr val="34D399">
                <a:alpha val="6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251960" y="1828800"/>
            <a:ext cx="1691640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251960" y="1828800"/>
            <a:ext cx="1691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6FC"/>
                </a:solidFill>
              </a:rPr>
              <a:t>Upcycle Svc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993392" y="1764792"/>
            <a:ext cx="2258568" cy="347472"/>
          </a:xfrm>
          <a:prstGeom prst="line">
            <a:avLst/>
          </a:prstGeom>
          <a:noFill/>
          <a:ln w="10160">
            <a:solidFill>
              <a:srgbClr val="34D399">
                <a:alpha val="6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377440" y="2880360"/>
            <a:ext cx="1691640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377440" y="2880360"/>
            <a:ext cx="1691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6FC"/>
                </a:solidFill>
              </a:rPr>
              <a:t>Payment Svc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993392" y="1764792"/>
            <a:ext cx="384048" cy="1399032"/>
          </a:xfrm>
          <a:prstGeom prst="line">
            <a:avLst/>
          </a:prstGeom>
          <a:noFill/>
          <a:ln w="10160">
            <a:solidFill>
              <a:srgbClr val="34D399">
                <a:alpha val="6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251960" y="2880360"/>
            <a:ext cx="1691640" cy="5669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251960" y="2880360"/>
            <a:ext cx="1691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6FC"/>
                </a:solidFill>
              </a:rPr>
              <a:t>Order Svc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993392" y="1764792"/>
            <a:ext cx="2258568" cy="1399032"/>
          </a:xfrm>
          <a:prstGeom prst="line">
            <a:avLst/>
          </a:prstGeom>
          <a:noFill/>
          <a:ln w="10160">
            <a:solidFill>
              <a:srgbClr val="34D399">
                <a:alpha val="6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64592" y="301752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34D399"/>
                </a:solidFill>
              </a:rPr>
              <a:t>REQUEST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164592" y="3154680"/>
            <a:ext cx="2148840" cy="0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203704" y="3090672"/>
            <a:ext cx="109728" cy="64008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203704" y="3218688"/>
            <a:ext cx="109728" cy="-64008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331720" y="3154680"/>
            <a:ext cx="3657600" cy="0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879592" y="3090672"/>
            <a:ext cx="109728" cy="64008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879592" y="3218688"/>
            <a:ext cx="109728" cy="-64008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00800" y="777240"/>
            <a:ext cx="242316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00800" y="77724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0F6FC"/>
                </a:solidFill>
              </a:rPr>
              <a:t>users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400800" y="1051560"/>
            <a:ext cx="2423160" cy="20116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92240" y="1051560"/>
            <a:ext cx="2313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59E0B"/>
                </a:solidFill>
              </a:rPr>
              <a:t>id PK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6400800" y="1252728"/>
            <a:ext cx="2423160" cy="201168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92240" y="1252728"/>
            <a:ext cx="2313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0F6FC"/>
                </a:solidFill>
              </a:rPr>
              <a:t>email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6400800" y="1453896"/>
            <a:ext cx="2423160" cy="20116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92240" y="1453896"/>
            <a:ext cx="2313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0F6FC"/>
                </a:solidFill>
              </a:rPr>
              <a:t>role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7109460" y="1691640"/>
            <a:ext cx="1005840" cy="164592"/>
          </a:xfrm>
          <a:prstGeom prst="ellipse">
            <a:avLst/>
          </a:prstGeom>
          <a:solidFill>
            <a:srgbClr val="30363D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109460" y="1691640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B949E"/>
                </a:solidFill>
              </a:rPr>
              <a:t>PostgreSQL</a:t>
            </a:r>
            <a:endParaRPr lang="en-US" sz="650" dirty="0"/>
          </a:p>
        </p:txBody>
      </p:sp>
      <p:sp>
        <p:nvSpPr>
          <p:cNvPr id="55" name="Shape 53"/>
          <p:cNvSpPr/>
          <p:nvPr/>
        </p:nvSpPr>
        <p:spPr>
          <a:xfrm>
            <a:off x="9098280" y="777240"/>
            <a:ext cx="2423160" cy="274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098280" y="77724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0F6FC"/>
                </a:solidFill>
              </a:rPr>
              <a:t>orders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9098280" y="1051560"/>
            <a:ext cx="2423160" cy="20116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189720" y="1051560"/>
            <a:ext cx="2313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59E0B"/>
                </a:solidFill>
              </a:rPr>
              <a:t>id PK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9098280" y="1252728"/>
            <a:ext cx="2423160" cy="201168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189720" y="1252728"/>
            <a:ext cx="2313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4D399"/>
                </a:solidFill>
              </a:rPr>
              <a:t>user_id FK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9098280" y="1453896"/>
            <a:ext cx="2423160" cy="20116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189720" y="1453896"/>
            <a:ext cx="2313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0F6FC"/>
                </a:solidFill>
              </a:rPr>
              <a:t>status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9806940" y="1691640"/>
            <a:ext cx="1005840" cy="164592"/>
          </a:xfrm>
          <a:prstGeom prst="ellipse">
            <a:avLst/>
          </a:prstGeom>
          <a:solidFill>
            <a:srgbClr val="30363D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806940" y="1691640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B949E"/>
                </a:solidFill>
              </a:rPr>
              <a:t>PostgreSQL</a:t>
            </a:r>
            <a:endParaRPr lang="en-US" sz="650" dirty="0"/>
          </a:p>
        </p:txBody>
      </p:sp>
      <p:sp>
        <p:nvSpPr>
          <p:cNvPr id="65" name="Shape 63"/>
          <p:cNvSpPr/>
          <p:nvPr/>
        </p:nvSpPr>
        <p:spPr>
          <a:xfrm>
            <a:off x="6400800" y="2240280"/>
            <a:ext cx="2423160" cy="274320"/>
          </a:xfrm>
          <a:prstGeom prst="rect">
            <a:avLst/>
          </a:prstGeom>
          <a:solidFill>
            <a:srgbClr val="1D6FE8"/>
          </a:solidFill>
          <a:ln w="12700">
            <a:solidFill>
              <a:srgbClr val="1D6FE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400800" y="22402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0F6FC"/>
                </a:solidFill>
              </a:rPr>
              <a:t>laundry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6400800" y="2514600"/>
            <a:ext cx="2423160" cy="20116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492240" y="2514600"/>
            <a:ext cx="2313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59E0B"/>
                </a:solidFill>
              </a:rPr>
              <a:t>id PK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6400800" y="2715768"/>
            <a:ext cx="2423160" cy="201168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492240" y="2715768"/>
            <a:ext cx="2313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4D399"/>
                </a:solidFill>
              </a:rPr>
              <a:t>order_id FK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6400800" y="2916936"/>
            <a:ext cx="2423160" cy="20116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492240" y="2916936"/>
            <a:ext cx="2313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0F6FC"/>
                </a:solidFill>
              </a:rPr>
              <a:t>slot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7109460" y="3154680"/>
            <a:ext cx="1005840" cy="164592"/>
          </a:xfrm>
          <a:prstGeom prst="ellipse">
            <a:avLst/>
          </a:prstGeom>
          <a:solidFill>
            <a:srgbClr val="30363D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109460" y="3154680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B949E"/>
                </a:solidFill>
              </a:rPr>
              <a:t>PostgreSQL</a:t>
            </a:r>
            <a:endParaRPr lang="en-US" sz="650" dirty="0"/>
          </a:p>
        </p:txBody>
      </p:sp>
      <p:sp>
        <p:nvSpPr>
          <p:cNvPr id="75" name="Shape 73"/>
          <p:cNvSpPr/>
          <p:nvPr/>
        </p:nvSpPr>
        <p:spPr>
          <a:xfrm>
            <a:off x="9098280" y="2240280"/>
            <a:ext cx="2423160" cy="274320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9098280" y="22402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0F6FC"/>
                </a:solidFill>
              </a:rPr>
              <a:t>recycling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9098280" y="2514600"/>
            <a:ext cx="2423160" cy="20116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9189720" y="2514600"/>
            <a:ext cx="2313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59E0B"/>
                </a:solidFill>
              </a:rPr>
              <a:t>id PK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9098280" y="2715768"/>
            <a:ext cx="2423160" cy="201168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9189720" y="2715768"/>
            <a:ext cx="2313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0F6FC"/>
                </a:solidFill>
              </a:rPr>
              <a:t>points_earned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9806940" y="2953512"/>
            <a:ext cx="1005840" cy="164592"/>
          </a:xfrm>
          <a:prstGeom prst="ellipse">
            <a:avLst/>
          </a:prstGeom>
          <a:solidFill>
            <a:srgbClr val="30363D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9806940" y="2953512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B949E"/>
                </a:solidFill>
              </a:rPr>
              <a:t>PostgreSQL</a:t>
            </a:r>
            <a:endParaRPr lang="en-US" sz="650" dirty="0"/>
          </a:p>
        </p:txBody>
      </p:sp>
      <p:sp>
        <p:nvSpPr>
          <p:cNvPr id="83" name="Shape 81"/>
          <p:cNvSpPr/>
          <p:nvPr/>
        </p:nvSpPr>
        <p:spPr>
          <a:xfrm>
            <a:off x="6400800" y="3703320"/>
            <a:ext cx="242316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400800" y="370332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0F6FC"/>
                </a:solidFill>
              </a:rPr>
              <a:t>payments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6400800" y="3977640"/>
            <a:ext cx="2423160" cy="20116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492240" y="3977640"/>
            <a:ext cx="2313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59E0B"/>
                </a:solidFill>
              </a:rPr>
              <a:t>id PK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6400800" y="4178808"/>
            <a:ext cx="2423160" cy="201168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492240" y="4178808"/>
            <a:ext cx="2313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4D399"/>
                </a:solidFill>
              </a:rPr>
              <a:t>order_id FK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6400800" y="4379976"/>
            <a:ext cx="2423160" cy="20116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492240" y="4379976"/>
            <a:ext cx="2313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0F6FC"/>
                </a:solidFill>
              </a:rPr>
              <a:t>amount</a:t>
            </a:r>
            <a:endParaRPr lang="en-US" sz="750" dirty="0"/>
          </a:p>
        </p:txBody>
      </p:sp>
      <p:sp>
        <p:nvSpPr>
          <p:cNvPr id="91" name="Shape 89"/>
          <p:cNvSpPr/>
          <p:nvPr/>
        </p:nvSpPr>
        <p:spPr>
          <a:xfrm>
            <a:off x="7109460" y="4617720"/>
            <a:ext cx="1005840" cy="164592"/>
          </a:xfrm>
          <a:prstGeom prst="ellipse">
            <a:avLst/>
          </a:prstGeom>
          <a:solidFill>
            <a:srgbClr val="30363D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7109460" y="4617720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B949E"/>
                </a:solidFill>
              </a:rPr>
              <a:t>PostgreSQL</a:t>
            </a:r>
            <a:endParaRPr lang="en-US" sz="650" dirty="0"/>
          </a:p>
        </p:txBody>
      </p:sp>
      <p:sp>
        <p:nvSpPr>
          <p:cNvPr id="93" name="Shape 91"/>
          <p:cNvSpPr/>
          <p:nvPr/>
        </p:nvSpPr>
        <p:spPr>
          <a:xfrm>
            <a:off x="9098280" y="3703320"/>
            <a:ext cx="2423160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9098280" y="370332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0F6FC"/>
                </a:solidFill>
              </a:rPr>
              <a:t>workers</a:t>
            </a:r>
            <a:endParaRPr lang="en-US" sz="850" dirty="0"/>
          </a:p>
        </p:txBody>
      </p:sp>
      <p:sp>
        <p:nvSpPr>
          <p:cNvPr id="95" name="Shape 93"/>
          <p:cNvSpPr/>
          <p:nvPr/>
        </p:nvSpPr>
        <p:spPr>
          <a:xfrm>
            <a:off x="9098280" y="3977640"/>
            <a:ext cx="2423160" cy="20116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9189720" y="3977640"/>
            <a:ext cx="2313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59E0B"/>
                </a:solidFill>
              </a:rPr>
              <a:t>id PK</a:t>
            </a:r>
            <a:endParaRPr lang="en-US" sz="750" dirty="0"/>
          </a:p>
        </p:txBody>
      </p:sp>
      <p:sp>
        <p:nvSpPr>
          <p:cNvPr id="97" name="Shape 95"/>
          <p:cNvSpPr/>
          <p:nvPr/>
        </p:nvSpPr>
        <p:spPr>
          <a:xfrm>
            <a:off x="9098280" y="4178808"/>
            <a:ext cx="2423160" cy="201168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9189720" y="4178808"/>
            <a:ext cx="2313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0F6FC"/>
                </a:solidFill>
              </a:rPr>
              <a:t>verified</a:t>
            </a:r>
            <a:endParaRPr lang="en-US" sz="750" dirty="0"/>
          </a:p>
        </p:txBody>
      </p:sp>
      <p:sp>
        <p:nvSpPr>
          <p:cNvPr id="99" name="Shape 97"/>
          <p:cNvSpPr/>
          <p:nvPr/>
        </p:nvSpPr>
        <p:spPr>
          <a:xfrm>
            <a:off x="9098280" y="4379976"/>
            <a:ext cx="2423160" cy="20116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9189720" y="4379976"/>
            <a:ext cx="2313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0F6FC"/>
                </a:solidFill>
              </a:rPr>
              <a:t>rating</a:t>
            </a:r>
            <a:endParaRPr lang="en-US" sz="750" dirty="0"/>
          </a:p>
        </p:txBody>
      </p:sp>
      <p:sp>
        <p:nvSpPr>
          <p:cNvPr id="101" name="Shape 99"/>
          <p:cNvSpPr/>
          <p:nvPr/>
        </p:nvSpPr>
        <p:spPr>
          <a:xfrm>
            <a:off x="9806940" y="4617720"/>
            <a:ext cx="1005840" cy="164592"/>
          </a:xfrm>
          <a:prstGeom prst="ellipse">
            <a:avLst/>
          </a:prstGeom>
          <a:solidFill>
            <a:srgbClr val="30363D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9806940" y="4617720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B949E"/>
                </a:solidFill>
              </a:rPr>
              <a:t>PostgreSQL</a:t>
            </a:r>
            <a:endParaRPr lang="en-US" sz="650" dirty="0"/>
          </a:p>
        </p:txBody>
      </p:sp>
      <p:sp>
        <p:nvSpPr>
          <p:cNvPr id="103" name="Shape 101"/>
          <p:cNvSpPr/>
          <p:nvPr/>
        </p:nvSpPr>
        <p:spPr>
          <a:xfrm>
            <a:off x="6126480" y="1920240"/>
            <a:ext cx="246888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5943600" y="169164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</a:rPr>
              <a:t>READ/WRITE</a:t>
            </a:r>
            <a:endParaRPr lang="en-US" sz="700" dirty="0"/>
          </a:p>
        </p:txBody>
      </p:sp>
      <p:sp>
        <p:nvSpPr>
          <p:cNvPr id="105" name="Shape 103"/>
          <p:cNvSpPr/>
          <p:nvPr/>
        </p:nvSpPr>
        <p:spPr>
          <a:xfrm>
            <a:off x="5943600" y="1920240"/>
            <a:ext cx="429768" cy="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6263640" y="1856232"/>
            <a:ext cx="109728" cy="64008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263640" y="1984248"/>
            <a:ext cx="109728" cy="-64008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0" y="5989320"/>
            <a:ext cx="1216152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457200" y="603504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8B949E"/>
                </a:solidFill>
              </a:rPr>
              <a:t>PROTOCOL</a:t>
            </a:r>
            <a:endParaRPr lang="en-US" sz="750" dirty="0"/>
          </a:p>
        </p:txBody>
      </p:sp>
      <p:sp>
        <p:nvSpPr>
          <p:cNvPr id="110" name="Text 108"/>
          <p:cNvSpPr/>
          <p:nvPr/>
        </p:nvSpPr>
        <p:spPr>
          <a:xfrm>
            <a:off x="457200" y="62636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D399"/>
                </a:solidFill>
              </a:rPr>
              <a:t>REST / HTTP</a:t>
            </a:r>
            <a:endParaRPr lang="en-US" sz="900" dirty="0"/>
          </a:p>
        </p:txBody>
      </p:sp>
      <p:sp>
        <p:nvSpPr>
          <p:cNvPr id="111" name="Text 109"/>
          <p:cNvSpPr/>
          <p:nvPr/>
        </p:nvSpPr>
        <p:spPr>
          <a:xfrm>
            <a:off x="2377440" y="603504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8B949E"/>
                </a:solidFill>
              </a:rPr>
              <a:t>AUTH</a:t>
            </a:r>
            <a:endParaRPr lang="en-US" sz="750" dirty="0"/>
          </a:p>
        </p:txBody>
      </p:sp>
      <p:sp>
        <p:nvSpPr>
          <p:cNvPr id="112" name="Text 110"/>
          <p:cNvSpPr/>
          <p:nvPr/>
        </p:nvSpPr>
        <p:spPr>
          <a:xfrm>
            <a:off x="2377440" y="62636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D399"/>
                </a:solidFill>
              </a:rPr>
              <a:t>JWT Bearer Token</a:t>
            </a:r>
            <a:endParaRPr lang="en-US" sz="900" dirty="0"/>
          </a:p>
        </p:txBody>
      </p:sp>
      <p:sp>
        <p:nvSpPr>
          <p:cNvPr id="113" name="Text 111"/>
          <p:cNvSpPr/>
          <p:nvPr/>
        </p:nvSpPr>
        <p:spPr>
          <a:xfrm>
            <a:off x="4297680" y="603504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8B949E"/>
                </a:solidFill>
              </a:rPr>
              <a:t>DISCOVERY</a:t>
            </a:r>
            <a:endParaRPr lang="en-US" sz="750" dirty="0"/>
          </a:p>
        </p:txBody>
      </p:sp>
      <p:sp>
        <p:nvSpPr>
          <p:cNvPr id="114" name="Text 112"/>
          <p:cNvSpPr/>
          <p:nvPr/>
        </p:nvSpPr>
        <p:spPr>
          <a:xfrm>
            <a:off x="4297680" y="62636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D399"/>
                </a:solidFill>
              </a:rPr>
              <a:t>Netflix Eureka</a:t>
            </a:r>
            <a:endParaRPr lang="en-US" sz="900" dirty="0"/>
          </a:p>
        </p:txBody>
      </p:sp>
      <p:sp>
        <p:nvSpPr>
          <p:cNvPr id="115" name="Text 113"/>
          <p:cNvSpPr/>
          <p:nvPr/>
        </p:nvSpPr>
        <p:spPr>
          <a:xfrm>
            <a:off x="6217920" y="603504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8B949E"/>
                </a:solidFill>
              </a:rPr>
              <a:t>ORM</a:t>
            </a:r>
            <a:endParaRPr lang="en-US" sz="750" dirty="0"/>
          </a:p>
        </p:txBody>
      </p:sp>
      <p:sp>
        <p:nvSpPr>
          <p:cNvPr id="116" name="Text 114"/>
          <p:cNvSpPr/>
          <p:nvPr/>
        </p:nvSpPr>
        <p:spPr>
          <a:xfrm>
            <a:off x="6217920" y="62636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D399"/>
                </a:solidFill>
              </a:rPr>
              <a:t>JPA / Hibernate</a:t>
            </a:r>
            <a:endParaRPr lang="en-US" sz="900" dirty="0"/>
          </a:p>
        </p:txBody>
      </p:sp>
      <p:sp>
        <p:nvSpPr>
          <p:cNvPr id="117" name="Text 115"/>
          <p:cNvSpPr/>
          <p:nvPr/>
        </p:nvSpPr>
        <p:spPr>
          <a:xfrm>
            <a:off x="8138160" y="603504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8B949E"/>
                </a:solidFill>
              </a:rPr>
              <a:t>DATABASE</a:t>
            </a:r>
            <a:endParaRPr lang="en-US" sz="750" dirty="0"/>
          </a:p>
        </p:txBody>
      </p:sp>
      <p:sp>
        <p:nvSpPr>
          <p:cNvPr id="118" name="Text 116"/>
          <p:cNvSpPr/>
          <p:nvPr/>
        </p:nvSpPr>
        <p:spPr>
          <a:xfrm>
            <a:off x="8138160" y="62636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D399"/>
                </a:solidFill>
              </a:rPr>
              <a:t>PostgreSQL</a:t>
            </a:r>
            <a:endParaRPr lang="en-US" sz="900" dirty="0"/>
          </a:p>
        </p:txBody>
      </p:sp>
      <p:sp>
        <p:nvSpPr>
          <p:cNvPr id="119" name="Text 117"/>
          <p:cNvSpPr/>
          <p:nvPr/>
        </p:nvSpPr>
        <p:spPr>
          <a:xfrm>
            <a:off x="10058400" y="603504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8B949E"/>
                </a:solidFill>
              </a:rPr>
              <a:t>GATEWAY</a:t>
            </a:r>
            <a:endParaRPr lang="en-US" sz="750" dirty="0"/>
          </a:p>
        </p:txBody>
      </p:sp>
      <p:sp>
        <p:nvSpPr>
          <p:cNvPr id="120" name="Text 118"/>
          <p:cNvSpPr/>
          <p:nvPr/>
        </p:nvSpPr>
        <p:spPr>
          <a:xfrm>
            <a:off x="10058400" y="62636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D399"/>
                </a:solidFill>
              </a:rPr>
              <a:t>Spring Cloud Gateway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Revastra – Technical Design Diagrams</dc:title>
  <dc:subject>PptxGenJS Presentation</dc:subject>
  <dc:creator>PptxGenJS</dc:creator>
  <cp:lastModifiedBy>PptxGenJS</cp:lastModifiedBy>
  <cp:revision>1</cp:revision>
  <dcterms:created xsi:type="dcterms:W3CDTF">2026-04-03T11:31:26Z</dcterms:created>
  <dcterms:modified xsi:type="dcterms:W3CDTF">2026-04-03T11:31:26Z</dcterms:modified>
</cp:coreProperties>
</file>